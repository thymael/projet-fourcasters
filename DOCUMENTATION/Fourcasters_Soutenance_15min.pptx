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34bb6af3d0469e" /><Relationship Type="http://schemas.openxmlformats.org/officeDocument/2006/relationships/extended-properties" Target="/docProps/app.xml" Id="R8d0ac4417ee5476a" /><Relationship Type="http://schemas.openxmlformats.org/officeDocument/2006/relationships/officeDocument" Target="/ppt/presentation.xml" Id="Rac0c42c86ede4e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babdb75854749"/>
  </p:sldMasterIdLst>
  <p:notesMasterIdLst>
    <p:notesMasterId xmlns:r="http://schemas.openxmlformats.org/officeDocument/2006/relationships" r:id="R15a70823b45f49aa"/>
  </p:notesMasterIdLst>
  <p:sldIdLst>
    <p:sldId xmlns:r="http://schemas.openxmlformats.org/officeDocument/2006/relationships" id="256" r:id="R75573bb6699d4835"/>
    <p:sldId xmlns:r="http://schemas.openxmlformats.org/officeDocument/2006/relationships" id="257" r:id="R65c652b40ee74467"/>
    <p:sldId xmlns:r="http://schemas.openxmlformats.org/officeDocument/2006/relationships" id="258" r:id="Rdcfe33a384e74c1e"/>
    <p:sldId xmlns:r="http://schemas.openxmlformats.org/officeDocument/2006/relationships" id="259" r:id="Ra7c416d48e14480a"/>
    <p:sldId xmlns:r="http://schemas.openxmlformats.org/officeDocument/2006/relationships" id="260" r:id="R93698d5257644aed"/>
    <p:sldId xmlns:r="http://schemas.openxmlformats.org/officeDocument/2006/relationships" id="261" r:id="R13f50561c87241ae"/>
    <p:sldId xmlns:r="http://schemas.openxmlformats.org/officeDocument/2006/relationships" id="262" r:id="R0f58d549c2fb4d4e"/>
    <p:sldId xmlns:r="http://schemas.openxmlformats.org/officeDocument/2006/relationships" id="263" r:id="Rf70114b494094502"/>
    <p:sldId xmlns:r="http://schemas.openxmlformats.org/officeDocument/2006/relationships" id="264" r:id="R8de82fa715e74d2f"/>
    <p:sldId xmlns:r="http://schemas.openxmlformats.org/officeDocument/2006/relationships" id="265" r:id="Ra3a1e2509210484b"/>
    <p:sldId xmlns:r="http://schemas.openxmlformats.org/officeDocument/2006/relationships" id="266" r:id="Rcbd2c036e5ee4aee"/>
    <p:sldId xmlns:r="http://schemas.openxmlformats.org/officeDocument/2006/relationships" id="267" r:id="Rf915af4816a445d7"/>
    <p:sldId xmlns:r="http://schemas.openxmlformats.org/officeDocument/2006/relationships" id="268" r:id="R023770217aed48a0"/>
    <p:sldId xmlns:r="http://schemas.openxmlformats.org/officeDocument/2006/relationships" id="269" r:id="Rfcd22964ae7c47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128d635574337" /><Relationship Type="http://schemas.openxmlformats.org/officeDocument/2006/relationships/slideMaster" Target="/ppt/slideMasters/slideMaster1.xml" Id="R17fbabdb75854749" /><Relationship Type="http://schemas.openxmlformats.org/officeDocument/2006/relationships/notesMaster" Target="/ppt/notesMasters/notesMaster1.xml" Id="R15a70823b45f49aa" /><Relationship Type="http://schemas.openxmlformats.org/officeDocument/2006/relationships/presProps" Target="/ppt/presProps.xml" Id="Rf1da69c6f31548b7" /><Relationship Type="http://schemas.openxmlformats.org/officeDocument/2006/relationships/viewProps" Target="/ppt/viewProps.xml" Id="R7bb469778cd346f0" /><Relationship Type="http://schemas.openxmlformats.org/officeDocument/2006/relationships/tableStyles" Target="/ppt/tableStyles.xml" Id="R8855a243234c4777" /><Relationship Type="http://schemas.openxmlformats.org/officeDocument/2006/relationships/slide" Target="/ppt/slides/slide1.xml" Id="R75573bb6699d4835" /><Relationship Type="http://schemas.openxmlformats.org/officeDocument/2006/relationships/slide" Target="/ppt/slides/slide2.xml" Id="R65c652b40ee74467" /><Relationship Type="http://schemas.openxmlformats.org/officeDocument/2006/relationships/slide" Target="/ppt/slides/slide3.xml" Id="Rdcfe33a384e74c1e" /><Relationship Type="http://schemas.openxmlformats.org/officeDocument/2006/relationships/slide" Target="/ppt/slides/slide4.xml" Id="Ra7c416d48e14480a" /><Relationship Type="http://schemas.openxmlformats.org/officeDocument/2006/relationships/slide" Target="/ppt/slides/slide5.xml" Id="R93698d5257644aed" /><Relationship Type="http://schemas.openxmlformats.org/officeDocument/2006/relationships/slide" Target="/ppt/slides/slide6.xml" Id="R13f50561c87241ae" /><Relationship Type="http://schemas.openxmlformats.org/officeDocument/2006/relationships/slide" Target="/ppt/slides/slide7.xml" Id="R0f58d549c2fb4d4e" /><Relationship Type="http://schemas.openxmlformats.org/officeDocument/2006/relationships/slide" Target="/ppt/slides/slide8.xml" Id="Rf70114b494094502" /><Relationship Type="http://schemas.openxmlformats.org/officeDocument/2006/relationships/slide" Target="/ppt/slides/slide9.xml" Id="R8de82fa715e74d2f" /><Relationship Type="http://schemas.openxmlformats.org/officeDocument/2006/relationships/slide" Target="/ppt/slides/slide10.xml" Id="Ra3a1e2509210484b" /><Relationship Type="http://schemas.openxmlformats.org/officeDocument/2006/relationships/slide" Target="/ppt/slides/slide11.xml" Id="Rcbd2c036e5ee4aee" /><Relationship Type="http://schemas.openxmlformats.org/officeDocument/2006/relationships/slide" Target="/ppt/slides/slide12.xml" Id="Rf915af4816a445d7" /><Relationship Type="http://schemas.openxmlformats.org/officeDocument/2006/relationships/slide" Target="/ppt/slides/slide13.xml" Id="R023770217aed48a0" /><Relationship Type="http://schemas.openxmlformats.org/officeDocument/2006/relationships/slide" Target="/ppt/slides/slide14.xml" Id="Rfcd22964ae7c47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4e1b527dca46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079da233314041" /><Relationship Type="http://schemas.openxmlformats.org/officeDocument/2006/relationships/notesMaster" Target="/ppt/notesMasters/notesMaster1.xml" Id="Rf9bf3ecf4ecf4f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f9982170b49d4" /><Relationship Type="http://schemas.openxmlformats.org/officeDocument/2006/relationships/notesMaster" Target="/ppt/notesMasters/notesMaster1.xml" Id="R6eba57a1f6ee46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11d9a0f3e640d2" /><Relationship Type="http://schemas.openxmlformats.org/officeDocument/2006/relationships/notesMaster" Target="/ppt/notesMasters/notesMaster1.xml" Id="R452d57399a9647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f8d80e51dd497d" /><Relationship Type="http://schemas.openxmlformats.org/officeDocument/2006/relationships/notesMaster" Target="/ppt/notesMasters/notesMaster1.xml" Id="R2f8bf5420574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fef94644c749ab" /><Relationship Type="http://schemas.openxmlformats.org/officeDocument/2006/relationships/notesMaster" Target="/ppt/notesMasters/notesMaster1.xml" Id="Rc518183485e9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f23f7a444e4831" /><Relationship Type="http://schemas.openxmlformats.org/officeDocument/2006/relationships/notesMaster" Target="/ppt/notesMasters/notesMaster1.xml" Id="R34cc774a406846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14751d995e4d3b" /><Relationship Type="http://schemas.openxmlformats.org/officeDocument/2006/relationships/notesMaster" Target="/ppt/notesMasters/notesMaster1.xml" Id="R5c9ad4c7fa334c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6fb651ed77449b" /><Relationship Type="http://schemas.openxmlformats.org/officeDocument/2006/relationships/notesMaster" Target="/ppt/notesMasters/notesMaster1.xml" Id="R518d075d7dce49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e36602897c4145" /><Relationship Type="http://schemas.openxmlformats.org/officeDocument/2006/relationships/notesMaster" Target="/ppt/notesMasters/notesMaster1.xml" Id="R27698933411743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770331161a4810" /><Relationship Type="http://schemas.openxmlformats.org/officeDocument/2006/relationships/notesMaster" Target="/ppt/notesMasters/notesMaster1.xml" Id="R699ee2b3aa254b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46d820bc1d4456" /><Relationship Type="http://schemas.openxmlformats.org/officeDocument/2006/relationships/notesMaster" Target="/ppt/notesMasters/notesMaster1.xml" Id="R6bfe9441b81a4e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5020e9e37c43cc" /><Relationship Type="http://schemas.openxmlformats.org/officeDocument/2006/relationships/notesMaster" Target="/ppt/notesMasters/notesMaster1.xml" Id="R16a801dd2f2446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700bfc2a2642b3" /><Relationship Type="http://schemas.openxmlformats.org/officeDocument/2006/relationships/notesMaster" Target="/ppt/notesMasters/notesMaster1.xml" Id="R304c64ac225044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49851d9a1541fe" /><Relationship Type="http://schemas.openxmlformats.org/officeDocument/2006/relationships/notesMaster" Target="/ppt/notesMasters/notesMaster1.xml" Id="Rc0e2f5e613ce4e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0:00-0:20. Présenter le projet. Dire qu'il a commencé en groupe puis a été finalisé individuellement.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0:20-1:05. Expliquer le besoin sans roleplay : rassembler des informations dispersées pour lire les périodes et territoires sensibles.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1:05-1:40. Poser la question centrale et expliquer la différence de grain entre 360 points météo et 96 départements.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1:40-2:30. Parler du Kanban Notion, de GitHub et des documents livrés : dictionnaire, guide Power BI, risques, éthique et sobriété.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2:30-3:20. Résumer le parcours : Python, Parquet, GCS, BigQuery, dbt, EDA, Power BI, ML et Streamlit.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3:20-4:00. Open-Meteo : 360 points, ERA5-Seamless, six jours de décalage, une journée manquante par exécution et lots 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4:00-4:35. Météo-France : 96 départements, niveaux officiels 1 à 4, horizons J1 et J2. Ce ne sont pas des feux observés.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4:35-5:25. Expliquer staging, intermediate et marts. Citer la difficulté d'agréger des points au niveau départemental.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5:25-6:00. GitHub Actions lance la collecte et dbt chaque jour. Le ML reste entraîné à la demande.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6:00-6:45. Jeu final : 67 584 lignes. Train 46 080 sur 2024-2025. Test 21 504 sur 2026 jusqu'au 2 octobre.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6:45-7:40. Les 14 variables décrivent J et la fenêtre J-6 à J. J est la dernière météo disponible. J+1 et J+2 partent de cette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7:40-8:30. Random Forest : 64,35 % d'accuracy et F1 macro 0,417. Baseline 42,28 %. Insister sur les niveaux 3 et 4 difficiles.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8:30-10:35. Transition vers Power BI puis démonstration de deux pages maximum. Commenter un constat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10:35-14:25. Transition vers Streamlit. Montrer la dernière météo complète, choisir un département et lire J+1/J+2. Conclure sans revenir aux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6c99fa0974f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62327906549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ad261fa104c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2797742a644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086a223c84a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02bfdee4246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763d27766495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cfd75cc8145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1b04bf0cb49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56fd896e74c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Captures Fourcasters 1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14_1">
            <a:extLst xmlns:a="http://schemas.openxmlformats.org/drawingml/2006/main">
              <a:ext uri="{FF2B5EF4-FFF2-40B4-BE49-F238E27FC236}">
                <a16:creationId xmlns:a16="http://schemas.microsoft.com/office/drawing/2014/main" id="{37F0E44A-30B9-4BC8-BC99-83B906270D0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" y="2009775"/>
            <a:ext cx="109728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Modèle en étoile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Tables, clés et cardinalités visibles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Captures Fourcasters 1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16_1">
            <a:extLst xmlns:a="http://schemas.openxmlformats.org/drawingml/2006/main">
              <a:ext uri="{FF2B5EF4-FFF2-40B4-BE49-F238E27FC236}">
                <a16:creationId xmlns:a16="http://schemas.microsoft.com/office/drawing/2014/main" id="{A5FC334B-7494-4A74-8F83-7A8412EA607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" y="2762250"/>
            <a:ext cx="51625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Graphique EDA météo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Saisonnalité, territoire ou corrélation</a:t>
            </a:r>
          </a:p>
        </p:txBody>
      </p:sp>
      <p:sp>
        <p:nvSpPr>
          <p:cNvPr id="11" name="CAPTURE_16_2">
            <a:extLst xmlns:a="http://schemas.openxmlformats.org/drawingml/2006/main">
              <a:ext uri="{FF2B5EF4-FFF2-40B4-BE49-F238E27FC236}">
                <a16:creationId xmlns:a16="http://schemas.microsoft.com/office/drawing/2014/main" id="{4130F45E-98E2-41E4-9B88-CE02F5DB972C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6419850" y="2762250"/>
            <a:ext cx="51625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Graphique EDA danger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Répartition des niveaux ou écart J1/J2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Captures Fourcasters 2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17_1">
            <a:extLst xmlns:a="http://schemas.openxmlformats.org/drawingml/2006/main">
              <a:ext uri="{FF2B5EF4-FFF2-40B4-BE49-F238E27FC236}">
                <a16:creationId xmlns:a16="http://schemas.microsoft.com/office/drawing/2014/main" id="{FF276592-6254-4235-B65F-32FF5C519B7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" y="1962150"/>
            <a:ext cx="1097280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Rapport Power BI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Vue principale du rapport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Captures Fourcasters 2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24_1">
            <a:extLst xmlns:a="http://schemas.openxmlformats.org/drawingml/2006/main">
              <a:ext uri="{FF2B5EF4-FFF2-40B4-BE49-F238E27FC236}">
                <a16:creationId xmlns:a16="http://schemas.microsoft.com/office/drawing/2014/main" id="{B57B7E09-C65E-430A-96F0-8032C13751D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" y="2066925"/>
            <a:ext cx="703897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Importance des variables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Graphique réel du dernier entraînement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Captures Fourcasters 2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25_1">
            <a:extLst xmlns:a="http://schemas.openxmlformats.org/drawingml/2006/main">
              <a:ext uri="{FF2B5EF4-FFF2-40B4-BE49-F238E27FC236}">
                <a16:creationId xmlns:a16="http://schemas.microsoft.com/office/drawing/2014/main" id="{FC9430CE-0425-4E84-AEF4-12E494DDA78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" y="2009775"/>
            <a:ext cx="80962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Application Streamlit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Observation, prédiction et probabilités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Captures Fourcasters 3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27_1">
            <a:extLst xmlns:a="http://schemas.openxmlformats.org/drawingml/2006/main">
              <a:ext uri="{FF2B5EF4-FFF2-40B4-BE49-F238E27FC236}">
                <a16:creationId xmlns:a16="http://schemas.microsoft.com/office/drawing/2014/main" id="{CF17084D-219D-4B02-B1D3-BB674AD240A6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772150" y="2057400"/>
            <a:ext cx="581025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Exécution GitHub Actions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Étapes et compteurs de collecte visibles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Captures Fourcasters 3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33_1">
            <a:extLst xmlns:a="http://schemas.openxmlformats.org/drawingml/2006/main">
              <a:ext uri="{FF2B5EF4-FFF2-40B4-BE49-F238E27FC236}">
                <a16:creationId xmlns:a16="http://schemas.microsoft.com/office/drawing/2014/main" id="{290B441C-3833-45F6-9A09-04075D16BECE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" y="2000250"/>
            <a:ext cx="10972800" cy="416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Graphe dbt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Sources, staging, intermediate et marts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Captures Fourcasters 3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36_1">
            <a:extLst xmlns:a="http://schemas.openxmlformats.org/drawingml/2006/main">
              <a:ext uri="{FF2B5EF4-FFF2-40B4-BE49-F238E27FC236}">
                <a16:creationId xmlns:a16="http://schemas.microsoft.com/office/drawing/2014/main" id="{EB442133-E08B-4929-822C-EBF4FEF66BD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" y="2009775"/>
            <a:ext cx="7419975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Matrice de confusion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Axes officiel / prédit et effectifs lisibles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aptures Fourcasters 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URE_37_1">
            <a:extLst xmlns:a="http://schemas.openxmlformats.org/drawingml/2006/main">
              <a:ext uri="{FF2B5EF4-FFF2-40B4-BE49-F238E27FC236}">
                <a16:creationId xmlns:a16="http://schemas.microsoft.com/office/drawing/2014/main" id="{763CDEDE-177F-4CCA-8298-8EF229FAA5B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" y="2000250"/>
            <a:ext cx="1097280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1906">
            <a:solidFill>
              <a:srgbClr val="234657"/>
            </a:solidFill>
            <a:prstDash val="dash"/>
          </a:ln>
        </p:spPr>
        <p:txBody>
          <a:bodyPr xmlns:a="http://schemas.openxmlformats.org/drawingml/2006/main" lIns="285750" tIns="228600" rIns="28575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CAPTURE À INSÉRER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Requête et résultat BigQuery</a:t>
            </a:r>
          </a:p>
          <a:p xmlns:a="http://schemas.openxmlformats.org/drawingml/2006/main">
            <a:pPr algn="ctr">
              <a:buNone/>
              <a:def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Volume, unicité ou fraîcheur de l’historique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1c93210ae5426f" /><Relationship Type="http://schemas.openxmlformats.org/officeDocument/2006/relationships/slideLayout" Target="/ppt/slideLayouts/slideLayout1.xml" Id="Rfe27e75a003b44eb" /><Relationship Type="http://schemas.openxmlformats.org/officeDocument/2006/relationships/slideLayout" Target="/ppt/slideLayouts/slideLayout2.xml" Id="R605d46b705534a73" /><Relationship Type="http://schemas.openxmlformats.org/officeDocument/2006/relationships/slideLayout" Target="/ppt/slideLayouts/slideLayout3.xml" Id="R454f1e16d38e48f4" /><Relationship Type="http://schemas.openxmlformats.org/officeDocument/2006/relationships/slideLayout" Target="/ppt/slideLayouts/slideLayout4.xml" Id="R5e1df1274eb54ee1" /><Relationship Type="http://schemas.openxmlformats.org/officeDocument/2006/relationships/slideLayout" Target="/ppt/slideLayouts/slideLayout5.xml" Id="R1d9fb6c107a5422b" /><Relationship Type="http://schemas.openxmlformats.org/officeDocument/2006/relationships/slideLayout" Target="/ppt/slideLayouts/slideLayout6.xml" Id="Rbe626a5a6b6f44b5" /><Relationship Type="http://schemas.openxmlformats.org/officeDocument/2006/relationships/slideLayout" Target="/ppt/slideLayouts/slideLayout7.xml" Id="R910fb2383cb84723" /><Relationship Type="http://schemas.openxmlformats.org/officeDocument/2006/relationships/slideLayout" Target="/ppt/slideLayouts/slideLayout8.xml" Id="R53582d3084f64508" /><Relationship Type="http://schemas.openxmlformats.org/officeDocument/2006/relationships/slideLayout" Target="/ppt/slideLayouts/slideLayout9.xml" Id="R874a2ba50a3d4671" /><Relationship Type="http://schemas.openxmlformats.org/officeDocument/2006/relationships/slideLayout" Target="/ppt/slideLayouts/slideLayout10.xml" Id="Rb13944721b0645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27e75a003b44eb"/>
    <p:sldLayoutId xmlns:r="http://schemas.openxmlformats.org/officeDocument/2006/relationships" id="2147483650" r:id="R605d46b705534a73"/>
    <p:sldLayoutId xmlns:r="http://schemas.openxmlformats.org/officeDocument/2006/relationships" id="2147483651" r:id="R454f1e16d38e48f4"/>
    <p:sldLayoutId xmlns:r="http://schemas.openxmlformats.org/officeDocument/2006/relationships" id="2147483652" r:id="R5e1df1274eb54ee1"/>
    <p:sldLayoutId xmlns:r="http://schemas.openxmlformats.org/officeDocument/2006/relationships" id="2147483653" r:id="R1d9fb6c107a5422b"/>
    <p:sldLayoutId xmlns:r="http://schemas.openxmlformats.org/officeDocument/2006/relationships" id="2147483654" r:id="Rbe626a5a6b6f44b5"/>
    <p:sldLayoutId xmlns:r="http://schemas.openxmlformats.org/officeDocument/2006/relationships" id="2147483655" r:id="R910fb2383cb84723"/>
    <p:sldLayoutId xmlns:r="http://schemas.openxmlformats.org/officeDocument/2006/relationships" id="2147483656" r:id="R53582d3084f64508"/>
    <p:sldLayoutId xmlns:r="http://schemas.openxmlformats.org/officeDocument/2006/relationships" id="2147483657" r:id="R874a2ba50a3d4671"/>
    <p:sldLayoutId xmlns:r="http://schemas.openxmlformats.org/officeDocument/2006/relationships" id="2147483658" r:id="Rb13944721b0645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714c13dde4aa3" /><Relationship Type="http://schemas.openxmlformats.org/officeDocument/2006/relationships/image" Target="/ppt/media/image.jpeg" Id="R67896ee8a54344d7" /><Relationship Type="http://schemas.openxmlformats.org/officeDocument/2006/relationships/notesSlide" Target="/ppt/notesSlides/notesSlide1.xml" Id="R0f39ef5ec9ca40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f6bedcc8784b11" /><Relationship Type="http://schemas.openxmlformats.org/officeDocument/2006/relationships/notesSlide" Target="/ppt/notesSlides/notesSlide2.xml" Id="R5aa5a681f3504b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5b1c9c6f54efc" /><Relationship Type="http://schemas.openxmlformats.org/officeDocument/2006/relationships/notesSlide" Target="/ppt/notesSlides/notesSlide3.xml" Id="R5464b70911c0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fe954f637b49c2" /><Relationship Type="http://schemas.openxmlformats.org/officeDocument/2006/relationships/notesSlide" Target="/ppt/notesSlides/notesSlide4.xml" Id="R0530815915a549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4f498d3b44482" /><Relationship Type="http://schemas.openxmlformats.org/officeDocument/2006/relationships/notesSlide" Target="/ppt/notesSlides/notesSlide5.xml" Id="Rf91b341b58754b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80e93e0fa4f5f" /><Relationship Type="http://schemas.openxmlformats.org/officeDocument/2006/relationships/notesSlide" Target="/ppt/notesSlides/notesSlide6.xml" Id="R043fd79fe62f4a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5d87533694713" /><Relationship Type="http://schemas.openxmlformats.org/officeDocument/2006/relationships/notesSlide" Target="/ppt/notesSlides/notesSlide7.xml" Id="R0dba366fc5004d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8dcbe975645b6" /><Relationship Type="http://schemas.openxmlformats.org/officeDocument/2006/relationships/notesSlide" Target="/ppt/notesSlides/notesSlide8.xml" Id="R29be7d2626f14e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b17707b2b74ecd" /><Relationship Type="http://schemas.openxmlformats.org/officeDocument/2006/relationships/image" Target="/ppt/media/image.png" Id="Rfa3c85f0e2934178" /><Relationship Type="http://schemas.openxmlformats.org/officeDocument/2006/relationships/notesSlide" Target="/ppt/notesSlides/notesSlide9.xml" Id="Rc3531ba805e443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daacd01e542a6" /><Relationship Type="http://schemas.openxmlformats.org/officeDocument/2006/relationships/notesSlide" Target="/ppt/notesSlides/notesSlide10.xml" Id="R853bd663418348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94364379f4148" /><Relationship Type="http://schemas.openxmlformats.org/officeDocument/2006/relationships/notesSlide" Target="/ppt/notesSlides/notesSlide11.xml" Id="R9f3dbd65bbb24a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6e13e39044d31" /><Relationship Type="http://schemas.openxmlformats.org/officeDocument/2006/relationships/notesSlide" Target="/ppt/notesSlides/notesSlide12.xml" Id="Ra1b332150d0643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3a5e1a57ee04d10" /><Relationship Type="http://schemas.openxmlformats.org/officeDocument/2006/relationships/image" Target="/ppt/media/image2.png" Id="R251c8897e13c4c67" /><Relationship Type="http://schemas.openxmlformats.org/officeDocument/2006/relationships/notesSlide" Target="/ppt/notesSlides/notesSlide13.xml" Id="R75612b8ef21849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9aa94dfe0441a" /><Relationship Type="http://schemas.openxmlformats.org/officeDocument/2006/relationships/image" Target="/ppt/media/image3.png" Id="Rcfdb7d2d4f7741f2" /><Relationship Type="http://schemas.openxmlformats.org/officeDocument/2006/relationships/notesSlide" Target="/ppt/notesSlides/notesSlide14.xml" Id="R658e95b409a04e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96ee8a54344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urface_1">
            <a:extLst xmlns:a="http://schemas.openxmlformats.org/drawingml/2006/main">
              <a:ext uri="{FF2B5EF4-FFF2-40B4-BE49-F238E27FC236}">
                <a16:creationId xmlns:a16="http://schemas.microsoft.com/office/drawing/2014/main" id="{714EE4C9-31AD-41ED-A944-C671A11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131E">
                  <a:alpha val="97000"/>
                </a:srgbClr>
              </a:gs>
              <a:gs pos="43000">
                <a:srgbClr val="04131E">
                  <a:alpha val="91000"/>
                </a:srgbClr>
              </a:gs>
              <a:gs pos="100000">
                <a:srgbClr val="04131E">
                  <a:alpha val="5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A31BF7D-76C8-4D99-93A6-6319D26E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9" y="396128"/>
            <a:ext cx="6102725" cy="1898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625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5625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Projet FOURCASTERS</a:t>
            </a:r>
          </a:p>
        </p:txBody>
      </p:sp>
      <p:sp>
        <p:nvSpPr>
          <p:cNvPr id="4" name="text_2">
            <a:extLst xmlns:a="http://schemas.openxmlformats.org/drawingml/2006/main">
              <a:ext uri="{FF2B5EF4-FFF2-40B4-BE49-F238E27FC236}">
                <a16:creationId xmlns:a16="http://schemas.microsoft.com/office/drawing/2014/main" id="{D97F371D-A263-4595-A1E8-1558E55A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42" y="3621181"/>
            <a:ext cx="5322232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44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Météo &amp;</a:t>
            </a:r>
          </a:p>
          <a:p xmlns:a="http://schemas.openxmlformats.org/drawingml/2006/main">
            <a:pPr>
              <a:buNone/>
              <a:defRPr sz="4650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44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danger incendie</a:t>
            </a:r>
          </a:p>
        </p:txBody>
      </p:sp>
      <p:sp>
        <p:nvSpPr>
          <p:cNvPr id="6" name="text_4">
            <a:extLst xmlns:a="http://schemas.openxmlformats.org/drawingml/2006/main">
              <a:ext uri="{FF2B5EF4-FFF2-40B4-BE49-F238E27FC236}">
                <a16:creationId xmlns:a16="http://schemas.microsoft.com/office/drawing/2014/main" id="{E9DB9688-29A5-4703-A29A-19E2B25C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9" y="6029325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Présentation - Loïck Martin</a:t>
            </a:r>
          </a:p>
        </p:txBody>
      </p:sp>
      <p:sp>
        <p:nvSpPr>
          <p:cNvPr id="7" name="text_5">
            <a:extLst xmlns:a="http://schemas.openxmlformats.org/drawingml/2006/main">
              <a:ext uri="{FF2B5EF4-FFF2-40B4-BE49-F238E27FC236}">
                <a16:creationId xmlns:a16="http://schemas.microsoft.com/office/drawing/2014/main" id="{F86C112C-D42C-4F43-8C3D-67D1860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897142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Avec les </a:t>
            </a:r>
            <a:r>
              <a:rPr sz="150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collaborateurs : HEROUT Eddy, LAW YUNKAI Christophe et </a:t>
            </a:r>
            <a:r>
              <a:rPr sz="150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THEVENET Angélique</a:t>
            </a:r>
            <a:endParaRPr sz="1500" b="0">
              <a:solidFill>
                <a:srgbClr val="8EADBE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752416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49A8CAF-3DCB-4B27-A728-26A17A73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CONTEXTE MÉTIER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65BD141-DD25-45D8-8B00-2956E777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Un besoin d'analyse territoriale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3171C63-BE01-47D9-B0BD-ED6205DA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448" y="1572768"/>
            <a:ext cx="2943112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D201740-5A1C-4C2B-8AD6-AE3D6ED6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285" y="1865709"/>
            <a:ext cx="2365437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Contexte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507E905-5F78-4FA8-933B-197C0528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058" y="2258568"/>
            <a:ext cx="239589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Projet pédagogique autour
du danger incendie</a:t>
            </a:r>
            <a:endParaRPr sz="1000" b="0" i="0">
              <a:solidFill>
                <a:srgbClr val="8EADB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77DC89D-AEE1-4A65-ACED-9C511A98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0198" y="3085765"/>
            <a:ext cx="791611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OBJECTIF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E178062-78FF-4D78-881B-2EAE8CB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372" y="3337560"/>
            <a:ext cx="2487262" cy="12311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Rassembler les données pour mieux lire les périodes sensibles.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DE60775-F20A-4A3E-B8D4-6E3D7604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372" y="4754880"/>
            <a:ext cx="2487262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13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07F6856-36EF-4CE2-88FE-3EA3AD9B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1935" y="4869960"/>
            <a:ext cx="130813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Lecture </a:t>
            </a:r>
            <a:r>
              <a:rPr sz="900" b="1" i="0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attendue</a:t>
            </a:r>
            <a:endParaRPr sz="900" b="1" i="0">
              <a:solidFill>
                <a:srgbClr val="65DFE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124B3E2-A4C6-4CDD-BAD3-36C9FA31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513" y="5209737"/>
            <a:ext cx="2334981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Claire, fiable et comparable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B52E8CF-940C-4080-B204-F52EC15E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88851"/>
            <a:ext cx="3657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Le problème à résoudre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8B67308-A4EE-40A7-8DFB-1BB44F2B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4759" y="2148840"/>
            <a:ext cx="2362917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87E8437-D3CF-4512-B41A-AA2E4DFA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5749" y="2459736"/>
            <a:ext cx="1990883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Signaux</a:t>
            </a: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dispersés</a:t>
            </a:r>
            <a:endParaRPr sz="1300" b="1" i="0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A31717D-1FBF-4988-8BC6-F1FA2E3B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5749" y="3063240"/>
            <a:ext cx="1990883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Météo et danger
sont publiés à
des grains différents.</a:t>
            </a:r>
          </a:p>
        </p:txBody>
      </p:sp>
      <p:sp>
        <p:nvSpPr>
          <p:cNvPr id="19" name="Chevron 18">
            <a:extLst xmlns:a="http://schemas.openxmlformats.org/drawingml/2006/main">
              <a:ext uri="{FF2B5EF4-FFF2-40B4-BE49-F238E27FC236}">
                <a16:creationId xmlns:a16="http://schemas.microsoft.com/office/drawing/2014/main" id="{9E795E27-16E0-42A8-996D-96A17D9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26" y="2962656"/>
            <a:ext cx="231264" cy="29260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C789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94CE767C-8327-4FCB-9EB1-A4309BC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040" y="2148840"/>
            <a:ext cx="2362917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B0FB469-00B6-44D2-B368-A3283D15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1028" y="2459736"/>
            <a:ext cx="1990883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Analyse attendue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ACD292A-8E5A-4F3E-A814-461C449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1028" y="3063240"/>
            <a:ext cx="1990883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Comparer les
territoires et
les périodes.</a:t>
            </a:r>
          </a:p>
        </p:txBody>
      </p:sp>
      <p:sp>
        <p:nvSpPr>
          <p:cNvPr id="24" name="Chevron 23">
            <a:extLst xmlns:a="http://schemas.openxmlformats.org/drawingml/2006/main">
              <a:ext uri="{FF2B5EF4-FFF2-40B4-BE49-F238E27FC236}">
                <a16:creationId xmlns:a16="http://schemas.microsoft.com/office/drawing/2014/main" id="{22D57152-DA28-49B0-9AA1-8C458CAF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07" y="2962656"/>
            <a:ext cx="231264" cy="29260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C789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EA181EF-1E1B-47D2-BA85-9F5D2363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5321" y="2148840"/>
            <a:ext cx="2362917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3D5C1A9-FCA8-450B-8D43-64726FB4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6312" y="2459736"/>
            <a:ext cx="1990883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Restitution</a:t>
            </a:r>
            <a:endParaRPr sz="1300" b="1" i="0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20B84E6-489B-4B0B-BB64-54F5F1E9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6312" y="3063240"/>
            <a:ext cx="1990883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Comparer
l’historique pour
repérer les périodes sensibles.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29C9E4B2-A824-442D-B853-9BC704F3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4760" y="4407408"/>
            <a:ext cx="7953478" cy="1691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4BB89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2AB6E5C-5A45-4564-9DE7-5C61CDE3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6298" y="4624522"/>
            <a:ext cx="3569512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4BB89B"/>
                </a:solidFill>
                <a:latin typeface="DejaVu Sans"/>
                <a:ea typeface="DejaVu Sans"/>
                <a:cs typeface="DejaVu Sans"/>
              </a:rPr>
              <a:t>OBJECTIF DU PROJET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693AEC8-2889-43FA-BB03-899D2B94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6298" y="5153313"/>
            <a:ext cx="6988201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Construire une chaîne de données qui collecte, contrôle,
transforme et restitue les informations de manière explicable.</a:t>
            </a:r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7DF24491-22FE-4F6E-83A2-4B862D21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4336" y="4532971"/>
            <a:ext cx="52285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B89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3742718123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_7">
            <a:extLst xmlns:a="http://schemas.openxmlformats.org/drawingml/2006/main">
              <a:ext uri="{FF2B5EF4-FFF2-40B4-BE49-F238E27FC236}">
                <a16:creationId xmlns:a16="http://schemas.microsoft.com/office/drawing/2014/main" id="{06C2EA60-15C1-471F-B0CF-ABF0A04F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12620"/>
            <a:ext cx="1047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Comment relier des observations météo</a:t>
            </a:r>
          </a:p>
          <a:p xmlns:a="http://schemas.openxmlformats.org/drawingml/2006/main">
            <a:pPr>
              <a:buNone/>
              <a:defRPr sz="3300" b="0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à un niveau de danger départemental ?</a:t>
            </a:r>
          </a:p>
        </p:txBody>
      </p:sp>
      <p:sp>
        <p:nvSpPr>
          <p:cNvPr id="5" name="text_8">
            <a:extLst xmlns:a="http://schemas.openxmlformats.org/drawingml/2006/main">
              <a:ext uri="{FF2B5EF4-FFF2-40B4-BE49-F238E27FC236}">
                <a16:creationId xmlns:a16="http://schemas.microsoft.com/office/drawing/2014/main" id="{0EF582AE-D88C-450F-A638-29B026A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405" y="4030097"/>
            <a:ext cx="279586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Météo historique</a:t>
            </a:r>
          </a:p>
        </p:txBody>
      </p:sp>
      <p:sp>
        <p:nvSpPr>
          <p:cNvPr id="6" name="text_9">
            <a:extLst xmlns:a="http://schemas.openxmlformats.org/drawingml/2006/main">
              <a:ext uri="{FF2B5EF4-FFF2-40B4-BE49-F238E27FC236}">
                <a16:creationId xmlns:a16="http://schemas.microsoft.com/office/drawing/2014/main" id="{65842541-B64E-4909-8F5B-5E2974B4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405" y="4499063"/>
            <a:ext cx="2795866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Chaleur, humidité, pluie et vent</a:t>
            </a:r>
          </a:p>
        </p:txBody>
      </p:sp>
      <p:sp>
        <p:nvSpPr>
          <p:cNvPr id="7" name="text_10">
            <a:extLst xmlns:a="http://schemas.openxmlformats.org/drawingml/2006/main">
              <a:ext uri="{FF2B5EF4-FFF2-40B4-BE49-F238E27FC236}">
                <a16:creationId xmlns:a16="http://schemas.microsoft.com/office/drawing/2014/main" id="{61EBF618-6FCC-47D0-9579-8C9690E3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021" y="3890780"/>
            <a:ext cx="2354355" cy="724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B06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Niveau officiel de 1 à 4</a:t>
            </a:r>
          </a:p>
        </p:txBody>
      </p:sp>
      <p:sp>
        <p:nvSpPr>
          <p:cNvPr id="8" name="text_11">
            <a:extLst xmlns:a="http://schemas.openxmlformats.org/drawingml/2006/main">
              <a:ext uri="{FF2B5EF4-FFF2-40B4-BE49-F238E27FC236}">
                <a16:creationId xmlns:a16="http://schemas.microsoft.com/office/drawing/2014/main" id="{FCB3DB50-7256-4F99-A098-92CEE0A3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020" y="4678049"/>
            <a:ext cx="235435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Faible, modéré, élevé, très élevé</a:t>
            </a:r>
          </a:p>
        </p:txBody>
      </p:sp>
      <p:sp>
        <p:nvSpPr>
          <p:cNvPr id="12" name="Flèche : trois pointes 11">
            <a:extLst xmlns:a="http://schemas.openxmlformats.org/drawingml/2006/main">
              <a:ext uri="{FF2B5EF4-FFF2-40B4-BE49-F238E27FC236}">
                <a16:creationId xmlns:a16="http://schemas.microsoft.com/office/drawing/2014/main" id="{363AD057-3B20-06CE-8CFE-7E10648D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799478" y="4331199"/>
            <a:ext cx="2501153" cy="1352550"/>
          </a:xfrm>
          <a:prstGeom xmlns:a="http://schemas.openxmlformats.org/drawingml/2006/main" prst="leftRightUpArrow">
            <a:avLst>
              <a:gd name="adj1" fmla="val 15721"/>
              <a:gd name="adj2" fmla="val 17046"/>
              <a:gd name="adj3" fmla="val 17046"/>
            </a:avLst>
          </a:prstGeom>
          <a:gradFill xmlns:a="http://schemas.openxmlformats.org/drawingml/2006/main" rotWithShape="1">
            <a:gsLst>
              <a:gs pos="0">
                <a:srgbClr val="FFB06B"/>
              </a:gs>
              <a:gs pos="50000">
                <a:schemeClr val="bg1"/>
              </a:gs>
              <a:gs pos="100000">
                <a:srgbClr val="65DFEA"/>
              </a:gs>
            </a:gsLst>
            <a:lin ang="10800000" scaled="1"/>
            <a:tileRect/>
          </a:gra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36A56CB-CC8A-E434-C635-6EEA5B07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Rapprocher la météo et le danger</a:t>
            </a:r>
          </a:p>
        </p:txBody>
      </p:sp>
      <p:sp>
        <p:nvSpPr>
          <p:cNvPr id="10" name="TextBox 12">
            <a:extLst xmlns:a="http://schemas.openxmlformats.org/drawingml/2006/main">
              <a:ext uri="{FF2B5EF4-FFF2-40B4-BE49-F238E27FC236}">
                <a16:creationId xmlns:a16="http://schemas.microsoft.com/office/drawing/2014/main" id="{AD878EEA-8A87-1F57-58DC-E7C43756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PROBLÉMATIQUE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3C1DC4-F7EA-DBE0-DBDF-3F30A10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309360"/>
            <a:ext cx="104241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9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D547A67-F433-9C1D-5ED3-225E8221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989320"/>
            <a:ext cx="1097280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016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01BA63F-5B82-74E2-01C4-836BC772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98932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ACAC05A-1604-7FBC-CA10-D0083B64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6053328"/>
            <a:ext cx="10561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Objectif 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analytique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: 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rapprocher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deux grains 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différents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pour 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obtenir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une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lecture 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départementale</a:t>
            </a:r>
            <a:r>
              <a:rPr sz="9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explicable.</a:t>
            </a:r>
          </a:p>
        </p:txBody>
      </p:sp>
    </p:spTree>
    <p:extLst>
      <p:ext uri="{BB962C8B-B14F-4D97-AF65-F5344CB8AC3E}">
        <p14:creationId xmlns:p14="http://schemas.microsoft.com/office/powerpoint/2010/main" val="559283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719EA-6372-57BD-45B2-9829B9A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GESTION DU PROJET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9E2B54E-94D2-7235-5748-16A8564B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Des étapes suivies dans Notion et GitHub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EC07C0-88A2-981D-293D-7747B2BD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68" y="1263877"/>
            <a:ext cx="2500256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PARTIE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64D67C7-A758-259B-76C0-A942D989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654" y="1263877"/>
            <a:ext cx="3130474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OUTILS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A91CAACB-C71C-01A5-CCD5-0C2EAF97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68529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384C40-D247-793C-E997-F0837537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4068" y="1768529"/>
            <a:ext cx="2500256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97E3B5-F018-7067-7B72-69D6E890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2668" y="1883386"/>
            <a:ext cx="218772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COLLECTE</a:t>
            </a:r>
          </a:p>
        </p:txBody>
      </p:sp>
      <p:sp>
        <p:nvSpPr>
          <p:cNvPr id="10" name="Chevron 9">
            <a:extLst xmlns:a="http://schemas.openxmlformats.org/drawingml/2006/main">
              <a:ext uri="{FF2B5EF4-FFF2-40B4-BE49-F238E27FC236}">
                <a16:creationId xmlns:a16="http://schemas.microsoft.com/office/drawing/2014/main" id="{169C8109-7F7B-7D26-F480-4E17425F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882" y="1859969"/>
            <a:ext cx="1604683" cy="24688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AF00EB4-687A-3609-BED4-49736063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653" y="1736525"/>
            <a:ext cx="3130475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07D8393-2049-B107-D8C3-8AADFA6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972" y="1891080"/>
            <a:ext cx="278583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Python / requests / pandas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772F1E96-CFD4-6D0D-904B-7BD19D3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8337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D6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D6536C8-34A7-986B-5B24-9B728F4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68" y="2518337"/>
            <a:ext cx="2500256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AAFB469-A380-0CD2-450F-2659C813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334" y="2633194"/>
            <a:ext cx="218772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STOCKAGE</a:t>
            </a:r>
          </a:p>
        </p:txBody>
      </p:sp>
      <p:sp>
        <p:nvSpPr>
          <p:cNvPr id="16" name="Chevron 15">
            <a:extLst xmlns:a="http://schemas.openxmlformats.org/drawingml/2006/main">
              <a:ext uri="{FF2B5EF4-FFF2-40B4-BE49-F238E27FC236}">
                <a16:creationId xmlns:a16="http://schemas.microsoft.com/office/drawing/2014/main" id="{299A9BD6-6F0A-73D4-B8B5-2DCCA21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882" y="2609777"/>
            <a:ext cx="1604683" cy="24688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4D6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FF088D0-0CF7-4EFE-E777-D2839C4B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653" y="2486333"/>
            <a:ext cx="3130475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39F5318-1ECE-8AB4-42B2-28049448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972" y="2548555"/>
            <a:ext cx="278583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Google Cloud Storage + </a:t>
            </a: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BigQuery</a:t>
            </a:r>
            <a:endParaRPr sz="1200" b="1" i="0">
              <a:solidFill>
                <a:srgbClr val="C5D5D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DF99C64B-3A68-1620-59C2-17389B5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68144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CB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C597006-8FAA-E299-D6E2-F420BC9B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68" y="3268144"/>
            <a:ext cx="2500256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9DAE8CF-1A62-E141-7FBE-F19D4739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334" y="3383001"/>
            <a:ext cx="218772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TRANSFORMATION</a:t>
            </a:r>
          </a:p>
        </p:txBody>
      </p:sp>
      <p:sp>
        <p:nvSpPr>
          <p:cNvPr id="22" name="Chevron 21">
            <a:extLst xmlns:a="http://schemas.openxmlformats.org/drawingml/2006/main">
              <a:ext uri="{FF2B5EF4-FFF2-40B4-BE49-F238E27FC236}">
                <a16:creationId xmlns:a16="http://schemas.microsoft.com/office/drawing/2014/main" id="{F7C122B9-1FD6-F0E7-C8C2-F78115BA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882" y="3359584"/>
            <a:ext cx="1604683" cy="24688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3CCB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15DD5A9-45ED-0C5D-5AF6-DF0513AA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653" y="3236140"/>
            <a:ext cx="3130475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EE9D40E-A890-F3D7-DC74-E32C40F2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972" y="3390695"/>
            <a:ext cx="278583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dbt</a:t>
            </a: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+ SQL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9BDCFC59-BF77-08BA-C9E5-B7FDF01E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7953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C3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49F0C57-361B-B9C5-782A-13D33004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68" y="4017953"/>
            <a:ext cx="2500256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D4E6E9-EECB-F637-BA1B-1F9020EF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334" y="4132810"/>
            <a:ext cx="218772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ANALYSE</a:t>
            </a:r>
          </a:p>
        </p:txBody>
      </p:sp>
      <p:sp>
        <p:nvSpPr>
          <p:cNvPr id="28" name="Chevron 27">
            <a:extLst xmlns:a="http://schemas.openxmlformats.org/drawingml/2006/main">
              <a:ext uri="{FF2B5EF4-FFF2-40B4-BE49-F238E27FC236}">
                <a16:creationId xmlns:a16="http://schemas.microsoft.com/office/drawing/2014/main" id="{E97292EA-F1F5-98F4-F4B8-76617B6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882" y="4109393"/>
            <a:ext cx="1604683" cy="24688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1C3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11D5F1B-38C1-A524-8A1D-2E53932F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653" y="3985949"/>
            <a:ext cx="3130475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A52CAB9-F9F4-95D4-5412-5B3E746E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972" y="4140504"/>
            <a:ext cx="278583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</a:t>
            </a: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andas</a:t>
            </a: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/ Matplotlib + Power BI</a:t>
            </a: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2335DD96-EDE4-81D5-7D92-1F670C71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67761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B9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B68354CF-CF27-398C-858C-F2B2B30C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68" y="4767761"/>
            <a:ext cx="2500256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860218C-8A1C-05A2-4026-864D0C80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334" y="4882618"/>
            <a:ext cx="218772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MACHINE LEARNING</a:t>
            </a:r>
          </a:p>
        </p:txBody>
      </p:sp>
      <p:sp>
        <p:nvSpPr>
          <p:cNvPr id="34" name="Chevron 33">
            <a:extLst xmlns:a="http://schemas.openxmlformats.org/drawingml/2006/main">
              <a:ext uri="{FF2B5EF4-FFF2-40B4-BE49-F238E27FC236}">
                <a16:creationId xmlns:a16="http://schemas.microsoft.com/office/drawing/2014/main" id="{0D0A6C47-DA8B-2788-7F75-22042388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882" y="4859201"/>
            <a:ext cx="1604683" cy="24688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0B9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C9F2A2D7-304D-725C-211F-19814EE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653" y="4735757"/>
            <a:ext cx="3130475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A6C1A40-F1C2-763B-50B7-C9DAA1C1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972" y="4890312"/>
            <a:ext cx="278583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scikit-learn / </a:t>
            </a: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Streamlit</a:t>
            </a:r>
            <a:endParaRPr sz="1200" b="1" i="0">
              <a:solidFill>
                <a:srgbClr val="C5D5D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24656EEA-2E67-EC24-D84C-3D1298F8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17569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4BBEB270-FFD6-AE21-EA96-F8E4FCC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68" y="5517569"/>
            <a:ext cx="2500256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F6991CDE-B7F1-0EE6-172B-02CFE7B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334" y="5632426"/>
            <a:ext cx="218772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LIVRABLES</a:t>
            </a:r>
          </a:p>
        </p:txBody>
      </p:sp>
      <p:sp>
        <p:nvSpPr>
          <p:cNvPr id="40" name="Chevron 39">
            <a:extLst xmlns:a="http://schemas.openxmlformats.org/drawingml/2006/main">
              <a:ext uri="{FF2B5EF4-FFF2-40B4-BE49-F238E27FC236}">
                <a16:creationId xmlns:a16="http://schemas.microsoft.com/office/drawing/2014/main" id="{51990E7F-E922-BE87-F7A2-D4292D9E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882" y="5609009"/>
            <a:ext cx="1604683" cy="24688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FCC7D48F-1F34-FDC5-0FFB-93915FC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653" y="5485565"/>
            <a:ext cx="3130475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0F5D67B-77C5-C109-3D71-65C26F56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972" y="5640120"/>
            <a:ext cx="278583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GitHub / README / documentation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053DF288-74F0-DFDC-28CA-8922435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309360"/>
            <a:ext cx="104241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9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2804343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_27">
            <a:extLst xmlns:a="http://schemas.openxmlformats.org/drawingml/2006/main">
              <a:ext uri="{FF2B5EF4-FFF2-40B4-BE49-F238E27FC236}">
                <a16:creationId xmlns:a16="http://schemas.microsoft.com/office/drawing/2014/main" id="{D7A4C164-32BB-0197-6674-09FDEFE5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ARCHITECTURE</a:t>
            </a:r>
          </a:p>
        </p:txBody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4575A26-2688-B9C0-2407-8F20AF34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2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Le parcours de la donnée</a:t>
            </a:r>
          </a:p>
        </p:txBody>
      </p:sp>
      <p:sp>
        <p:nvSpPr>
          <p:cNvPr id="3" name="!!arch_rail">
            <a:extLst xmlns:a="http://schemas.openxmlformats.org/drawingml/2006/main">
              <a:ext uri="{FF2B5EF4-FFF2-40B4-BE49-F238E27FC236}">
                <a16:creationId xmlns:a16="http://schemas.microsoft.com/office/drawing/2014/main" id="{9BC6225D-53B6-354A-0163-0AAABCAA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864" y="3633402"/>
            <a:ext cx="15887" cy="15720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!!arch_rail">
            <a:extLst xmlns:a="http://schemas.openxmlformats.org/drawingml/2006/main">
              <a:ext uri="{FF2B5EF4-FFF2-40B4-BE49-F238E27FC236}">
                <a16:creationId xmlns:a16="http://schemas.microsoft.com/office/drawing/2014/main" id="{66FD12E9-5308-8EC9-2620-D4E0BF8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28749" y="2714625"/>
            <a:ext cx="1" cy="21709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!!arch_rail">
            <a:extLst xmlns:a="http://schemas.openxmlformats.org/drawingml/2006/main">
              <a:ext uri="{FF2B5EF4-FFF2-40B4-BE49-F238E27FC236}">
                <a16:creationId xmlns:a16="http://schemas.microsoft.com/office/drawing/2014/main" id="{105ABC8E-8E1F-DBC9-3D9A-D80F94F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864" y="2481262"/>
            <a:ext cx="0" cy="1118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!!arch_rail">
            <a:extLst xmlns:a="http://schemas.openxmlformats.org/drawingml/2006/main">
              <a:ext uri="{FF2B5EF4-FFF2-40B4-BE49-F238E27FC236}">
                <a16:creationId xmlns:a16="http://schemas.microsoft.com/office/drawing/2014/main" id="{F0DC3198-8578-334E-8422-5F03A912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16" y="2470960"/>
            <a:ext cx="3987835" cy="10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!!arch_rail">
            <a:extLst xmlns:a="http://schemas.openxmlformats.org/drawingml/2006/main">
              <a:ext uri="{FF2B5EF4-FFF2-40B4-BE49-F238E27FC236}">
                <a16:creationId xmlns:a16="http://schemas.microsoft.com/office/drawing/2014/main" id="{90990C8C-2513-E79B-D904-8CA20504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9368"/>
            <a:ext cx="93345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!!arch_point_sources">
            <a:extLst xmlns:a="http://schemas.openxmlformats.org/drawingml/2006/main">
              <a:ext uri="{FF2B5EF4-FFF2-40B4-BE49-F238E27FC236}">
                <a16:creationId xmlns:a16="http://schemas.microsoft.com/office/drawing/2014/main" id="{57FC1348-4EC8-0CC2-5077-8E8FCDE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222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!!arch_point_gcs">
            <a:extLst xmlns:a="http://schemas.openxmlformats.org/drawingml/2006/main">
              <a:ext uri="{FF2B5EF4-FFF2-40B4-BE49-F238E27FC236}">
                <a16:creationId xmlns:a16="http://schemas.microsoft.com/office/drawing/2014/main" id="{2C8785D0-34EF-3568-65A9-BD425B56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3221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!!arch_point_bq">
            <a:extLst xmlns:a="http://schemas.openxmlformats.org/drawingml/2006/main">
              <a:ext uri="{FF2B5EF4-FFF2-40B4-BE49-F238E27FC236}">
                <a16:creationId xmlns:a16="http://schemas.microsoft.com/office/drawing/2014/main" id="{24DBE020-F4D7-67D3-0421-1718606A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95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!!arch_point_dbt">
            <a:extLst xmlns:a="http://schemas.openxmlformats.org/drawingml/2006/main">
              <a:ext uri="{FF2B5EF4-FFF2-40B4-BE49-F238E27FC236}">
                <a16:creationId xmlns:a16="http://schemas.microsoft.com/office/drawing/2014/main" id="{A753FA28-64B3-B402-E220-9487C650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17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!!arch_point_python">
            <a:extLst xmlns:a="http://schemas.openxmlformats.org/drawingml/2006/main">
              <a:ext uri="{FF2B5EF4-FFF2-40B4-BE49-F238E27FC236}">
                <a16:creationId xmlns:a16="http://schemas.microsoft.com/office/drawing/2014/main" id="{957F5708-C485-E6C8-65E1-2D1A5E90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16" y="240428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!!arch_desc_sources">
            <a:extLst xmlns:a="http://schemas.openxmlformats.org/drawingml/2006/main">
              <a:ext uri="{FF2B5EF4-FFF2-40B4-BE49-F238E27FC236}">
                <a16:creationId xmlns:a16="http://schemas.microsoft.com/office/drawing/2014/main" id="{0A5CBE79-6D38-66A3-7912-B2D85A00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57" y="2280457"/>
            <a:ext cx="1605582" cy="361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b="0"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Open-</a:t>
            </a:r>
            <a:r>
              <a:rPr b="0"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Meteo</a:t>
            </a:r>
            <a:endParaRPr b="0">
              <a:solidFill>
                <a:srgbClr val="C5D5DF"/>
              </a:solidFill>
              <a:latin typeface="Cascadia Code"/>
              <a:ea typeface="Cascadia Code"/>
              <a:cs typeface="Cascadia Code"/>
            </a:endParaRPr>
          </a:p>
        </p:txBody>
      </p:sp>
      <p:sp>
        <p:nvSpPr>
          <p:cNvPr id="21" name="!!arch_python">
            <a:extLst xmlns:a="http://schemas.openxmlformats.org/drawingml/2006/main">
              <a:ext uri="{FF2B5EF4-FFF2-40B4-BE49-F238E27FC236}">
                <a16:creationId xmlns:a16="http://schemas.microsoft.com/office/drawing/2014/main" id="{615B74DF-D67A-27E9-EA62-47154386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395662"/>
            <a:ext cx="1009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b="1">
                <a:solidFill>
                  <a:srgbClr val="65DFEA"/>
                </a:solidFill>
                <a:latin typeface="Cascadia Code"/>
                <a:ea typeface="Cascadia Code"/>
                <a:cs typeface="Cascadia Code"/>
              </a:rPr>
              <a:t>Python</a:t>
            </a:r>
          </a:p>
        </p:txBody>
      </p:sp>
      <p:sp>
        <p:nvSpPr>
          <p:cNvPr id="22" name="!!arch_gcs">
            <a:extLst xmlns:a="http://schemas.openxmlformats.org/drawingml/2006/main">
              <a:ext uri="{FF2B5EF4-FFF2-40B4-BE49-F238E27FC236}">
                <a16:creationId xmlns:a16="http://schemas.microsoft.com/office/drawing/2014/main" id="{6AA78044-E458-8FC1-8B5A-A4B8B702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66" y="3890960"/>
            <a:ext cx="1166813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b="1">
                <a:solidFill>
                  <a:srgbClr val="65DFEA"/>
                </a:solidFill>
                <a:latin typeface="Cascadia Code"/>
                <a:ea typeface="Cascadia Code"/>
                <a:cs typeface="Cascadia Code"/>
              </a:rPr>
              <a:t>Parquet</a:t>
            </a:r>
          </a:p>
        </p:txBody>
      </p:sp>
      <p:sp>
        <p:nvSpPr>
          <p:cNvPr id="23" name="!!arch_bq">
            <a:extLst xmlns:a="http://schemas.openxmlformats.org/drawingml/2006/main">
              <a:ext uri="{FF2B5EF4-FFF2-40B4-BE49-F238E27FC236}">
                <a16:creationId xmlns:a16="http://schemas.microsoft.com/office/drawing/2014/main" id="{13E8E09B-6F40-B1A1-148D-7DE3FD10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11" y="3817974"/>
            <a:ext cx="1383712" cy="68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b="1">
                <a:solidFill>
                  <a:srgbClr val="65DFEA"/>
                </a:solidFill>
                <a:latin typeface="Cascadia Code"/>
                <a:ea typeface="Cascadia Code"/>
                <a:cs typeface="Cascadia Code"/>
              </a:rPr>
              <a:t>BigQuery</a:t>
            </a:r>
            <a:endParaRPr b="1">
              <a:solidFill>
                <a:srgbClr val="65DFEA"/>
              </a:solidFill>
              <a:latin typeface="Cascadia Code"/>
              <a:ea typeface="Cascadia Code"/>
              <a:cs typeface="Cascadia Code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Landing &amp; RAW</a:t>
            </a:r>
          </a:p>
        </p:txBody>
      </p:sp>
      <p:sp>
        <p:nvSpPr>
          <p:cNvPr id="24" name="!!arch_desc_dbt">
            <a:extLst xmlns:a="http://schemas.openxmlformats.org/drawingml/2006/main">
              <a:ext uri="{FF2B5EF4-FFF2-40B4-BE49-F238E27FC236}">
                <a16:creationId xmlns:a16="http://schemas.microsoft.com/office/drawing/2014/main" id="{DE961BDF-E736-0023-8ADF-B0F0A9DA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34010"/>
            <a:ext cx="180049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b="1">
                <a:solidFill>
                  <a:srgbClr val="65DFEA"/>
                </a:solidFill>
                <a:latin typeface="Cascadia Code"/>
                <a:ea typeface="Cascadia Code"/>
                <a:cs typeface="Cascadia Code"/>
              </a:rPr>
              <a:t>Notebook EDA </a:t>
            </a:r>
            <a:endParaRPr b="0">
              <a:solidFill>
                <a:srgbClr val="C5D5DF"/>
              </a:solidFill>
              <a:latin typeface="Cascadia Code"/>
              <a:ea typeface="Cascadia Code"/>
              <a:cs typeface="Cascadia Code"/>
            </a:endParaRPr>
          </a:p>
        </p:txBody>
      </p:sp>
      <p:sp>
        <p:nvSpPr>
          <p:cNvPr id="25" name="!!arch_eda">
            <a:extLst xmlns:a="http://schemas.openxmlformats.org/drawingml/2006/main">
              <a:ext uri="{FF2B5EF4-FFF2-40B4-BE49-F238E27FC236}">
                <a16:creationId xmlns:a16="http://schemas.microsoft.com/office/drawing/2014/main" id="{1C8BD4C9-CBB3-F433-D684-865ED6B0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596" y="3352800"/>
            <a:ext cx="109509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b="1">
                <a:solidFill>
                  <a:srgbClr val="65DFEA"/>
                </a:solidFill>
                <a:latin typeface="Cascadia Code"/>
                <a:ea typeface="Cascadia Code"/>
                <a:cs typeface="Cascadia Code"/>
              </a:rPr>
              <a:t>Power BI</a:t>
            </a:r>
          </a:p>
        </p:txBody>
      </p:sp>
      <p:sp>
        <p:nvSpPr>
          <p:cNvPr id="26" name="!!arch_ml">
            <a:extLst xmlns:a="http://schemas.openxmlformats.org/drawingml/2006/main">
              <a:ext uri="{FF2B5EF4-FFF2-40B4-BE49-F238E27FC236}">
                <a16:creationId xmlns:a16="http://schemas.microsoft.com/office/drawing/2014/main" id="{7DA9025C-6F26-EEF3-A57E-CB60872B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711" y="1652588"/>
            <a:ext cx="1688978" cy="72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B06B"/>
                </a:solidFill>
                <a:latin typeface="DejaVu Sans"/>
                <a:ea typeface="DejaVu Sans"/>
                <a:cs typeface="DejaVu Sans"/>
              </a:defRPr>
            </a:pPr>
            <a:r>
              <a:rPr sz="2800" b="1">
                <a:solidFill>
                  <a:srgbClr val="FFB06B"/>
                </a:solidFill>
                <a:latin typeface="Cascadia Code"/>
                <a:ea typeface="Cascadia Code"/>
                <a:cs typeface="Cascadia Code"/>
              </a:rPr>
              <a:t>Machine Learning</a:t>
            </a:r>
          </a:p>
        </p:txBody>
      </p:sp>
      <p:sp>
        <p:nvSpPr>
          <p:cNvPr id="27" name="ZoneTexte 26">
            <a:extLst xmlns:a="http://schemas.openxmlformats.org/drawingml/2006/main">
              <a:ext uri="{FF2B5EF4-FFF2-40B4-BE49-F238E27FC236}">
                <a16:creationId xmlns:a16="http://schemas.microsoft.com/office/drawing/2014/main" id="{4EC40FE4-8C55-252E-4225-61C3CBBC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78" y="4885546"/>
            <a:ext cx="180049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Météo-France</a:t>
            </a:r>
          </a:p>
        </p:txBody>
      </p:sp>
      <p:sp>
        <p:nvSpPr>
          <p:cNvPr id="28" name="ZoneTexte 27">
            <a:extLst xmlns:a="http://schemas.openxmlformats.org/drawingml/2006/main">
              <a:ext uri="{FF2B5EF4-FFF2-40B4-BE49-F238E27FC236}">
                <a16:creationId xmlns:a16="http://schemas.microsoft.com/office/drawing/2014/main" id="{C2400278-3F35-93CE-1503-D0C7F3FA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320" y="3839257"/>
            <a:ext cx="184785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65DFEA"/>
                </a:solidFill>
                <a:latin typeface="Cascadia Code"/>
                <a:ea typeface="Cascadia Code"/>
                <a:cs typeface="Cascadia Code"/>
              </a:rPr>
              <a:t>Google Cloud Storage</a:t>
            </a:r>
          </a:p>
        </p:txBody>
      </p:sp>
      <p:sp>
        <p:nvSpPr>
          <p:cNvPr id="29" name="!!arch_bq">
            <a:extLst xmlns:a="http://schemas.openxmlformats.org/drawingml/2006/main">
              <a:ext uri="{FF2B5EF4-FFF2-40B4-BE49-F238E27FC236}">
                <a16:creationId xmlns:a16="http://schemas.microsoft.com/office/drawing/2014/main" id="{B9FA7288-C1E5-0391-465C-88673E79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964" y="3817974"/>
            <a:ext cx="1634512" cy="68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65DFEA"/>
                </a:solidFill>
                <a:latin typeface="Cascadia Code"/>
                <a:ea typeface="Cascadia Code"/>
                <a:cs typeface="Cascadia Code"/>
              </a:rPr>
              <a:t>dbt</a:t>
            </a:r>
            <a:endParaRPr b="1">
              <a:solidFill>
                <a:srgbClr val="65DFEA"/>
              </a:solidFill>
              <a:latin typeface="Cascadia Code"/>
              <a:ea typeface="Cascadia Code"/>
              <a:cs typeface="Cascadia Code"/>
            </a:endParaRPr>
          </a:p>
          <a:p xmlns:a="http://schemas.openxmlformats.org/drawingml/2006/main">
            <a:r>
              <a:rPr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Staging</a:t>
            </a:r>
            <a:r>
              <a:rPr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, </a:t>
            </a:r>
            <a:r>
              <a:rPr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Intermediate</a:t>
            </a:r>
            <a:r>
              <a:rPr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 &amp; </a:t>
            </a:r>
            <a:r>
              <a:rPr>
                <a:solidFill>
                  <a:srgbClr val="C5D5DF"/>
                </a:solidFill>
                <a:latin typeface="Cascadia Code"/>
                <a:ea typeface="Cascadia Code"/>
                <a:cs typeface="Cascadia Code"/>
              </a:rPr>
              <a:t>Marts</a:t>
            </a:r>
            <a:endParaRPr>
              <a:solidFill>
                <a:srgbClr val="C5D5DF"/>
              </a:solidFill>
              <a:latin typeface="Cascadia Code"/>
              <a:ea typeface="Cascadia Code"/>
              <a:cs typeface="Cascadia Code"/>
            </a:endParaRPr>
          </a:p>
        </p:txBody>
      </p:sp>
      <p:sp>
        <p:nvSpPr>
          <p:cNvPr id="31" name="ZoneTexte 30">
            <a:extLst xmlns:a="http://schemas.openxmlformats.org/drawingml/2006/main">
              <a:ext uri="{FF2B5EF4-FFF2-40B4-BE49-F238E27FC236}">
                <a16:creationId xmlns:a16="http://schemas.microsoft.com/office/drawing/2014/main" id="{5209E6C0-FE9C-3A12-3EE4-1B5FFBC1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10" y="1831059"/>
            <a:ext cx="20443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B06B"/>
                </a:solidFill>
                <a:latin typeface="Cascadia Code"/>
                <a:ea typeface="Cascadia Code"/>
                <a:cs typeface="Cascadia Code"/>
              </a:rPr>
              <a:t>Streamlit</a:t>
            </a:r>
            <a:endParaRPr sz="2400">
              <a:solidFill>
                <a:srgbClr val="FFB06B"/>
              </a:solidFill>
              <a:latin typeface="Cascadia Code"/>
              <a:ea typeface="Cascadia Code"/>
              <a:cs typeface="Cascadia Code"/>
            </a:endParaRPr>
          </a:p>
        </p:txBody>
      </p:sp>
      <p:sp>
        <p:nvSpPr>
          <p:cNvPr id="32" name="ZoneTexte 31">
            <a:extLst xmlns:a="http://schemas.openxmlformats.org/drawingml/2006/main">
              <a:ext uri="{FF2B5EF4-FFF2-40B4-BE49-F238E27FC236}">
                <a16:creationId xmlns:a16="http://schemas.microsoft.com/office/drawing/2014/main" id="{7207C17C-92BE-9B7D-4F6B-5EF8965A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125" y="1836652"/>
            <a:ext cx="183959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B06B"/>
                </a:solidFill>
                <a:latin typeface="Cascadia Code"/>
                <a:ea typeface="Cascadia Code"/>
                <a:cs typeface="Cascadia Code"/>
              </a:rPr>
              <a:t>Pipeline</a:t>
            </a:r>
          </a:p>
        </p:txBody>
      </p:sp>
      <p:sp>
        <p:nvSpPr>
          <p:cNvPr id="33" name="!!arch_point_bq">
            <a:extLst xmlns:a="http://schemas.openxmlformats.org/drawingml/2006/main">
              <a:ext uri="{FF2B5EF4-FFF2-40B4-BE49-F238E27FC236}">
                <a16:creationId xmlns:a16="http://schemas.microsoft.com/office/drawing/2014/main" id="{A39FE186-D01C-2F60-E15D-CC9DEE63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5070" y="3542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!!arch_point_bq">
            <a:extLst xmlns:a="http://schemas.openxmlformats.org/drawingml/2006/main">
              <a:ext uri="{FF2B5EF4-FFF2-40B4-BE49-F238E27FC236}">
                <a16:creationId xmlns:a16="http://schemas.microsoft.com/office/drawing/2014/main" id="{F1F9E698-DA17-F0B5-1AF9-8B1A30D7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992" y="3542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!!arch_point_python">
            <a:extLst xmlns:a="http://schemas.openxmlformats.org/drawingml/2006/main">
              <a:ext uri="{FF2B5EF4-FFF2-40B4-BE49-F238E27FC236}">
                <a16:creationId xmlns:a16="http://schemas.microsoft.com/office/drawing/2014/main" id="{2ED296A0-3981-2C91-021C-A6CDC9F0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5069" y="241380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!!arch_point_python">
            <a:extLst xmlns:a="http://schemas.openxmlformats.org/drawingml/2006/main">
              <a:ext uri="{FF2B5EF4-FFF2-40B4-BE49-F238E27FC236}">
                <a16:creationId xmlns:a16="http://schemas.microsoft.com/office/drawing/2014/main" id="{7245B645-24B6-1019-3CF0-01D6F415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714" y="242965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!!arch_point_bq">
            <a:extLst xmlns:a="http://schemas.openxmlformats.org/drawingml/2006/main">
              <a:ext uri="{FF2B5EF4-FFF2-40B4-BE49-F238E27FC236}">
                <a16:creationId xmlns:a16="http://schemas.microsoft.com/office/drawing/2014/main" id="{608B1036-0F71-9437-FF6D-F1B76B0D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5193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!!arch_point_bq">
            <a:extLst xmlns:a="http://schemas.openxmlformats.org/drawingml/2006/main">
              <a:ext uri="{FF2B5EF4-FFF2-40B4-BE49-F238E27FC236}">
                <a16:creationId xmlns:a16="http://schemas.microsoft.com/office/drawing/2014/main" id="{72B463E3-8A67-ECEC-1BFC-13D9D2C7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480778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!!arch_point_bq">
            <a:extLst xmlns:a="http://schemas.openxmlformats.org/drawingml/2006/main">
              <a:ext uri="{FF2B5EF4-FFF2-40B4-BE49-F238E27FC236}">
                <a16:creationId xmlns:a16="http://schemas.microsoft.com/office/drawing/2014/main" id="{04F21667-5B45-B1DF-DB17-E6EEC9E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487" y="515302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44C1E8EB-999A-493B-BA54-C7D48EA8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916168"/>
            <a:ext cx="821131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D4B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4DA8640A-457A-4D87-A2B2-0F5328D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976852"/>
            <a:ext cx="7900416" cy="37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2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Les tables préparées par dbt alimentent l'analyse historique, le modèle et les deux tableaux de bord.</a:t>
            </a:r>
            <a:endParaRPr sz="1320" b="1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782391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_16">
            <a:extLst xmlns:a="http://schemas.openxmlformats.org/drawingml/2006/main">
              <a:ext uri="{FF2B5EF4-FFF2-40B4-BE49-F238E27FC236}">
                <a16:creationId xmlns:a16="http://schemas.microsoft.com/office/drawing/2014/main" id="{1A8C5959-49D2-421D-AB93-E00408A9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22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622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360</a:t>
            </a:r>
          </a:p>
        </p:txBody>
      </p:sp>
      <p:sp>
        <p:nvSpPr>
          <p:cNvPr id="5" name="text_17">
            <a:extLst xmlns:a="http://schemas.openxmlformats.org/drawingml/2006/main">
              <a:ext uri="{FF2B5EF4-FFF2-40B4-BE49-F238E27FC236}">
                <a16:creationId xmlns:a16="http://schemas.microsoft.com/office/drawing/2014/main" id="{E33E789A-E7CA-47CD-8B3D-DDA56909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points météo (préfectures, sous-préfectures &amp; centroïdes)</a:t>
            </a:r>
          </a:p>
        </p:txBody>
      </p:sp>
      <p:sp>
        <p:nvSpPr>
          <p:cNvPr id="8" name="text_20">
            <a:extLst xmlns:a="http://schemas.openxmlformats.org/drawingml/2006/main">
              <a:ext uri="{FF2B5EF4-FFF2-40B4-BE49-F238E27FC236}">
                <a16:creationId xmlns:a16="http://schemas.microsoft.com/office/drawing/2014/main" id="{E532D73E-3EF1-4461-B84B-82841F1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Open-Meteo / ERA5-Seamless</a:t>
            </a:r>
          </a:p>
        </p:txBody>
      </p:sp>
      <p:sp>
        <p:nvSpPr>
          <p:cNvPr id="9" name="text_21">
            <a:extLst xmlns:a="http://schemas.openxmlformats.org/drawingml/2006/main">
              <a:ext uri="{FF2B5EF4-FFF2-40B4-BE49-F238E27FC236}">
                <a16:creationId xmlns:a16="http://schemas.microsoft.com/office/drawing/2014/main" id="{913F76B5-7D10-4FCE-99FE-499D2E2D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048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Une date + un code INSEE</a:t>
            </a:r>
          </a:p>
          <a:p xmlns:a="http://schemas.openxmlformats.org/drawingml/2006/main">
            <a:pPr>
              <a:buNone/>
              <a:def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Référentiel fixe de points</a:t>
            </a:r>
          </a:p>
        </p:txBody>
      </p:sp>
      <p:sp>
        <p:nvSpPr>
          <p:cNvPr id="12" name="line_24">
            <a:extLst xmlns:a="http://schemas.openxmlformats.org/drawingml/2006/main">
              <a:ext uri="{FF2B5EF4-FFF2-40B4-BE49-F238E27FC236}">
                <a16:creationId xmlns:a16="http://schemas.microsoft.com/office/drawing/2014/main" id="{0D3E838D-93FC-4CD9-A8C6-30E4810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66925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line_25">
            <a:extLst xmlns:a="http://schemas.openxmlformats.org/drawingml/2006/main">
              <a:ext uri="{FF2B5EF4-FFF2-40B4-BE49-F238E27FC236}">
                <a16:creationId xmlns:a16="http://schemas.microsoft.com/office/drawing/2014/main" id="{1A457A05-6A03-412B-96A8-68F87702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901AA9B-C29E-4712-A340-B9E85E19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93392"/>
            <a:ext cx="5074920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D4B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AE6D8C9-4697-4E19-954C-DC7BC3E1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03120"/>
            <a:ext cx="4480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PARAMÈTRES DE COLLECTE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395457A-D35F-4CCF-BE77-DC37FE8D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730752"/>
            <a:ext cx="5074920" cy="20482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D4B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245EF74-44EE-4C8D-AABC-95475E49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40480"/>
            <a:ext cx="4480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VARIABLES COLLECTÉES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4D6DB6F2-AB91-4FAC-A497-F2E845A3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87168"/>
            <a:ext cx="12618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Points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38C07DA7-295D-47E3-932F-418831FD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7" y="2487168"/>
            <a:ext cx="987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360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B691221-DE20-4577-A9B8-424D2881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406936"/>
            <a:ext cx="12618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Collecte quotidienne</a:t>
            </a:r>
            <a:endParaRPr sz="1000" b="0">
              <a:solidFill>
                <a:srgbClr val="C5D5D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458E784-EC9D-4EB9-8C99-6FC43719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8" y="2487168"/>
            <a:ext cx="1024129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1er </a:t>
            </a:r>
            <a:r>
              <a:rPr sz="10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août</a:t>
            </a:r>
            <a:r>
              <a:rPr sz="10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 2026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5C2F8CF0-AC49-4BE7-8DEB-AECF484A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16352"/>
            <a:ext cx="12618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Lot API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E277E8F5-E871-49F0-A822-CC770D7B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7" y="2816352"/>
            <a:ext cx="987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20 points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EF2343FC-4DD5-4A71-B54D-656ACD29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816352"/>
            <a:ext cx="12618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Lots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C01D284D-3C6C-4818-9D14-9CC85FA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9" y="2816352"/>
            <a:ext cx="987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6756EF9-3CAA-4C03-91E6-0F28E70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145536"/>
            <a:ext cx="12618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Pause entre lots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B86FA028-E469-437D-8030-DACF560C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7" y="3145536"/>
            <a:ext cx="987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10 s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14DBE68D-B4F7-4C34-8985-18A0ABC5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145536"/>
            <a:ext cx="12618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Retard ERA5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8290DAAB-1C71-4F0F-B64E-FF31AA54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9" y="3145536"/>
            <a:ext cx="987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6 jours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7FEA1109-EFE8-4BAE-B81A-3BBB189A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215384"/>
            <a:ext cx="14630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Température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2E7CA5A-548A-418E-9AA2-E10769B0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4215384"/>
            <a:ext cx="316382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moyenne, min., max., ressentie, point de rosée, sol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A4B4F570-3CF5-4939-9154-4950C5B8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526280"/>
            <a:ext cx="14630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Humidité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A022D68F-78E4-4991-89D9-61595A3E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4526280"/>
            <a:ext cx="316382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relative moyenne/min/max, sol à plusieurs profondeurs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7ADA51E4-4A8E-415D-802F-D8AE633A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837176"/>
            <a:ext cx="14630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Précipitations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56A2DF6A-08E1-4457-BDBA-C330C22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4837176"/>
            <a:ext cx="316382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précipitations, pluie, neige, heures de précipitation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95D89DC3-80EC-45B5-AC82-16410D33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148072"/>
            <a:ext cx="14630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Vent / atmosphère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F290FA9-7A34-435A-ABC3-8A6863AB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148072"/>
            <a:ext cx="316382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vitesses, rafales, direction, nuages, pression, déficit de pression de vapeur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B47BC380-7DBF-45CF-8103-C257E1B7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458968"/>
            <a:ext cx="14630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Rayonnement / eau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33AACEE6-9430-49A3-85A6-6F68A28D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458968"/>
            <a:ext cx="3163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ensoleillement, rayonnement solaire, évapotranspiration</a:t>
            </a:r>
          </a:p>
        </p:txBody>
      </p:sp>
      <p:sp>
        <p:nvSpPr>
          <p:cNvPr id="3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BA18C8F-16B7-65D1-0351-D234192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Open-Meteo : 360 points météo</a:t>
            </a:r>
          </a:p>
        </p:txBody>
      </p:sp>
      <p:sp>
        <p:nvSpPr>
          <p:cNvPr id="6" name="TextBox 61">
            <a:extLst xmlns:a="http://schemas.openxmlformats.org/drawingml/2006/main">
              <a:ext uri="{FF2B5EF4-FFF2-40B4-BE49-F238E27FC236}">
                <a16:creationId xmlns:a16="http://schemas.microsoft.com/office/drawing/2014/main" id="{B0429FDD-A756-C1F7-5821-BCDD614F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01 · COLLECTER</a:t>
            </a:r>
          </a:p>
        </p:txBody>
      </p:sp>
      <p:sp>
        <p:nvSpPr>
          <p:cNvPr id="2" name="TextBox 61">
            <a:extLst xmlns:a="http://schemas.openxmlformats.org/drawingml/2006/main">
              <a:ext uri="{FF2B5EF4-FFF2-40B4-BE49-F238E27FC236}">
                <a16:creationId xmlns:a16="http://schemas.microsoft.com/office/drawing/2014/main" id="{84545D7C-C0B8-8EDD-FCFF-339DE492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619410"/>
            <a:ext cx="4937760" cy="227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Grain : 1 date × 1 point </a:t>
            </a:r>
            <a:r>
              <a:rPr sz="88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météo</a:t>
            </a:r>
            <a:endParaRPr sz="880" b="0">
              <a:solidFill>
                <a:srgbClr val="8EADBE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112153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_18">
            <a:extLst xmlns:a="http://schemas.openxmlformats.org/drawingml/2006/main">
              <a:ext uri="{FF2B5EF4-FFF2-40B4-BE49-F238E27FC236}">
                <a16:creationId xmlns:a16="http://schemas.microsoft.com/office/drawing/2014/main" id="{8D9710EC-0288-81E0-8600-CE0B50B3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28825"/>
            <a:ext cx="428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225" b="1">
                <a:solidFill>
                  <a:srgbClr val="FFB06B"/>
                </a:solidFill>
                <a:latin typeface="DejaVu Sans"/>
                <a:ea typeface="DejaVu Sans"/>
                <a:cs typeface="DejaVu Sans"/>
              </a:defRPr>
            </a:pPr>
            <a:r>
              <a:rPr sz="6225" b="1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96</a:t>
            </a:r>
          </a:p>
        </p:txBody>
      </p:sp>
      <p:sp>
        <p:nvSpPr>
          <p:cNvPr id="7" name="text_19">
            <a:extLst xmlns:a="http://schemas.openxmlformats.org/drawingml/2006/main">
              <a:ext uri="{FF2B5EF4-FFF2-40B4-BE49-F238E27FC236}">
                <a16:creationId xmlns:a16="http://schemas.microsoft.com/office/drawing/2014/main" id="{F4A1CFDF-74A9-28B3-351D-D508CDB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95625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départements</a:t>
            </a:r>
          </a:p>
        </p:txBody>
      </p:sp>
      <p:sp>
        <p:nvSpPr>
          <p:cNvPr id="10" name="text_22">
            <a:extLst xmlns:a="http://schemas.openxmlformats.org/drawingml/2006/main">
              <a:ext uri="{FF2B5EF4-FFF2-40B4-BE49-F238E27FC236}">
                <a16:creationId xmlns:a16="http://schemas.microsoft.com/office/drawing/2014/main" id="{B77DC58A-8C22-027D-44E0-A177330C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4812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Météo-France / Météo des forêts</a:t>
            </a:r>
          </a:p>
        </p:txBody>
      </p:sp>
      <p:sp>
        <p:nvSpPr>
          <p:cNvPr id="11" name="text_23">
            <a:extLst xmlns:a="http://schemas.openxmlformats.org/drawingml/2006/main">
              <a:ext uri="{FF2B5EF4-FFF2-40B4-BE49-F238E27FC236}">
                <a16:creationId xmlns:a16="http://schemas.microsoft.com/office/drawing/2014/main" id="{85C2E4AA-D503-52FE-950E-92477CAC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57750"/>
            <a:ext cx="49911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Une publication + un département</a:t>
            </a:r>
          </a:p>
          <a:p xmlns:a="http://schemas.openxmlformats.org/drawingml/2006/main">
            <a:pPr>
              <a:buNone/>
              <a:def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Deux échéances : J1 et J2</a:t>
            </a:r>
          </a:p>
        </p:txBody>
      </p:sp>
      <p:sp>
        <p:nvSpPr>
          <p:cNvPr id="12" name="line_24">
            <a:extLst xmlns:a="http://schemas.openxmlformats.org/drawingml/2006/main">
              <a:ext uri="{FF2B5EF4-FFF2-40B4-BE49-F238E27FC236}">
                <a16:creationId xmlns:a16="http://schemas.microsoft.com/office/drawing/2014/main" id="{A6F616ED-635A-B278-B495-763426C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66925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line_25">
            <a:extLst xmlns:a="http://schemas.openxmlformats.org/drawingml/2006/main">
              <a:ext uri="{FF2B5EF4-FFF2-40B4-BE49-F238E27FC236}">
                <a16:creationId xmlns:a16="http://schemas.microsoft.com/office/drawing/2014/main" id="{7757B3B3-4EFF-AB2A-B55B-4F4CFEFE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5DC6220-BC26-4148-8E36-E373EDFD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57400"/>
            <a:ext cx="5010912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D4B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8D28690-C041-4CC2-8520-F7615AB0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76272"/>
            <a:ext cx="4480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CHAMPS MÉTÉO-FRANCE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BC9129A-E740-4495-99C3-CE7EF2F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78608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1">
                <a:solidFill>
                  <a:srgbClr val="65DFEA"/>
                </a:solidFill>
                <a:latin typeface="DejaVu Sans Mono"/>
                <a:ea typeface="DejaVu Sans Mono"/>
                <a:cs typeface="DejaVu Sans Mono"/>
              </a:rPr>
              <a:t>reference_time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96DB8A8-6F25-4464-A9EE-E656539A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578608"/>
            <a:ext cx="32735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Horodatage de la publication Météo-France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94DACD-5ECF-4E05-AD50-C95A182F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89503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1">
                <a:solidFill>
                  <a:srgbClr val="65DFEA"/>
                </a:solidFill>
                <a:latin typeface="DejaVu Sans Mono"/>
                <a:ea typeface="DejaVu Sans Mono"/>
                <a:cs typeface="DejaVu Sans Mono"/>
              </a:rPr>
              <a:t>dep_code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9FE1E0-A48A-4E94-B18A-19035185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889503"/>
            <a:ext cx="32735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Code du département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E2731E1-65E0-43D2-ACB2-B30A5EF0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00400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1">
                <a:solidFill>
                  <a:srgbClr val="65DFEA"/>
                </a:solidFill>
                <a:latin typeface="DejaVu Sans Mono"/>
                <a:ea typeface="DejaVu Sans Mono"/>
                <a:cs typeface="DejaVu Sans Mono"/>
              </a:rPr>
              <a:t>dep_nom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6BFA99-E6D3-4B0F-B42C-784EDFAA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200400"/>
            <a:ext cx="32735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Nom du département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1E7844-E1D3-467D-B42F-C796D48D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1129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1">
                <a:solidFill>
                  <a:srgbClr val="65DFEA"/>
                </a:solidFill>
                <a:latin typeface="DejaVu Sans Mono"/>
                <a:ea typeface="DejaVu Sans Mono"/>
                <a:cs typeface="DejaVu Sans Mono"/>
              </a:rPr>
              <a:t>niveau_j1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FCCF2F-A93E-4C17-8466-F1FDB3F9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511296"/>
            <a:ext cx="32735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Niveau de danger pour le lendemain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B804EB-8112-46EC-AE72-0FF95F4A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22191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1">
                <a:solidFill>
                  <a:srgbClr val="65DFEA"/>
                </a:solidFill>
                <a:latin typeface="DejaVu Sans Mono"/>
                <a:ea typeface="DejaVu Sans Mono"/>
                <a:cs typeface="DejaVu Sans Mono"/>
              </a:rPr>
              <a:t>niveau_j2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550EA6-4664-4C37-94EA-A00FA42E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822191"/>
            <a:ext cx="32735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Niveau de danger pour J+2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AB256112-E7BF-4B0E-B0CC-A5EF724B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617720"/>
            <a:ext cx="5010912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FFB0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F385476-F19E-436C-AF52-FDFCD908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" y="4700016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À RETENIR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75BDCE6-B051-4249-A4B2-B1704F9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" y="4916612"/>
            <a:ext cx="4562856" cy="8079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Ce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niveau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ne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décrit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pas un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incendie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réellement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observé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.</a:t>
            </a:r>
            <a:endParaRPr sz="1050" b="0">
              <a:solidFill>
                <a:srgbClr val="C5D5DF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l">
              <a:buNone/>
            </a:pPr>
            <a:b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</a:b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Le projet avait été imaginé avec l’API de l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’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organisme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des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feux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forêt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et des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espaces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naturels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qui liste les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incendis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de France, mais malheureusement il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n’a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pas 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répondu</a:t>
            </a:r>
            <a:r>
              <a:rPr sz="10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3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127A5CF-DE95-FE18-AC55-BFDA874A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Météo des forêts : 96 départements</a:t>
            </a:r>
          </a:p>
        </p:txBody>
      </p:sp>
      <p:sp>
        <p:nvSpPr>
          <p:cNvPr id="4" name="TextBox 28">
            <a:extLst xmlns:a="http://schemas.openxmlformats.org/drawingml/2006/main">
              <a:ext uri="{FF2B5EF4-FFF2-40B4-BE49-F238E27FC236}">
                <a16:creationId xmlns:a16="http://schemas.microsoft.com/office/drawing/2014/main" id="{4556C2C3-B412-D1AB-BC96-C1511BA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01 · COLLECTER</a:t>
            </a:r>
          </a:p>
        </p:txBody>
      </p:sp>
      <p:sp>
        <p:nvSpPr>
          <p:cNvPr id="2" name="TextBox 28">
            <a:extLst xmlns:a="http://schemas.openxmlformats.org/drawingml/2006/main">
              <a:ext uri="{FF2B5EF4-FFF2-40B4-BE49-F238E27FC236}">
                <a16:creationId xmlns:a16="http://schemas.microsoft.com/office/drawing/2014/main" id="{15F2101F-A921-3FC8-E6CD-823D05B4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5623560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8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Grain : 1 publication × 1 département × 1 </a:t>
            </a:r>
            <a:r>
              <a:rPr sz="88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échéance</a:t>
            </a:r>
            <a:r>
              <a:rPr sz="88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(J1/J2).</a:t>
            </a:r>
          </a:p>
        </p:txBody>
      </p:sp>
    </p:spTree>
    <p:extLst>
      <p:ext uri="{BB962C8B-B14F-4D97-AF65-F5344CB8AC3E}">
        <p14:creationId xmlns:p14="http://schemas.microsoft.com/office/powerpoint/2010/main" val="2260601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_107">
            <a:extLst xmlns:a="http://schemas.openxmlformats.org/drawingml/2006/main">
              <a:ext uri="{FF2B5EF4-FFF2-40B4-BE49-F238E27FC236}">
                <a16:creationId xmlns:a16="http://schemas.microsoft.com/office/drawing/2014/main" id="{125B722B-4E29-D416-9EB8-4D067009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552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staging</a:t>
            </a:r>
            <a:endParaRPr sz="2775" b="1">
              <a:solidFill>
                <a:srgbClr val="65DFE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_108">
            <a:extLst xmlns:a="http://schemas.openxmlformats.org/drawingml/2006/main">
              <a:ext uri="{FF2B5EF4-FFF2-40B4-BE49-F238E27FC236}">
                <a16:creationId xmlns:a16="http://schemas.microsoft.com/office/drawing/2014/main" id="{CDCB245C-933E-D06C-17EF-6C1C6F6A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VUES</a:t>
            </a:r>
          </a:p>
        </p:txBody>
      </p:sp>
      <p:sp>
        <p:nvSpPr>
          <p:cNvPr id="6" name="line_109">
            <a:extLst xmlns:a="http://schemas.openxmlformats.org/drawingml/2006/main">
              <a:ext uri="{FF2B5EF4-FFF2-40B4-BE49-F238E27FC236}">
                <a16:creationId xmlns:a16="http://schemas.microsoft.com/office/drawing/2014/main" id="{24E97C7F-8CAE-F714-4A70-B5D6055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_110">
            <a:extLst xmlns:a="http://schemas.openxmlformats.org/drawingml/2006/main">
              <a:ext uri="{FF2B5EF4-FFF2-40B4-BE49-F238E27FC236}">
                <a16:creationId xmlns:a16="http://schemas.microsoft.com/office/drawing/2014/main" id="{03ADDBAD-EAF2-05CD-17D2-24CC3145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476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Renommer et typer</a:t>
            </a:r>
          </a:p>
          <a:p xmlns:a="http://schemas.openxmlformats.org/drawingml/2006/main">
            <a:pPr>
              <a:buNone/>
              <a:def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Dédupliquer</a:t>
            </a:r>
          </a:p>
        </p:txBody>
      </p:sp>
      <p:sp>
        <p:nvSpPr>
          <p:cNvPr id="8" name="text_111">
            <a:extLst xmlns:a="http://schemas.openxmlformats.org/drawingml/2006/main">
              <a:ext uri="{FF2B5EF4-FFF2-40B4-BE49-F238E27FC236}">
                <a16:creationId xmlns:a16="http://schemas.microsoft.com/office/drawing/2014/main" id="{A030C1A5-6D66-061D-4BE1-F5BB0FBE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RAW</a:t>
            </a:r>
          </a:p>
        </p:txBody>
      </p:sp>
      <p:sp>
        <p:nvSpPr>
          <p:cNvPr id="9" name="text_112">
            <a:extLst xmlns:a="http://schemas.openxmlformats.org/drawingml/2006/main">
              <a:ext uri="{FF2B5EF4-FFF2-40B4-BE49-F238E27FC236}">
                <a16:creationId xmlns:a16="http://schemas.microsoft.com/office/drawing/2014/main" id="{1A8F082F-2060-44E0-F8F0-2A7E4F8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66950"/>
            <a:ext cx="3552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intermediate</a:t>
            </a:r>
            <a:endParaRPr sz="2775" b="1">
              <a:solidFill>
                <a:srgbClr val="65DFE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ext_113">
            <a:extLst xmlns:a="http://schemas.openxmlformats.org/drawingml/2006/main">
              <a:ext uri="{FF2B5EF4-FFF2-40B4-BE49-F238E27FC236}">
                <a16:creationId xmlns:a16="http://schemas.microsoft.com/office/drawing/2014/main" id="{4B81CC55-C26A-7561-D617-0282772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718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VUES</a:t>
            </a:r>
          </a:p>
        </p:txBody>
      </p:sp>
      <p:sp>
        <p:nvSpPr>
          <p:cNvPr id="11" name="line_114">
            <a:extLst xmlns:a="http://schemas.openxmlformats.org/drawingml/2006/main">
              <a:ext uri="{FF2B5EF4-FFF2-40B4-BE49-F238E27FC236}">
                <a16:creationId xmlns:a16="http://schemas.microsoft.com/office/drawing/2014/main" id="{15875215-47AB-2279-FD57-CBE3503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7662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_115">
            <a:extLst xmlns:a="http://schemas.openxmlformats.org/drawingml/2006/main">
              <a:ext uri="{FF2B5EF4-FFF2-40B4-BE49-F238E27FC236}">
                <a16:creationId xmlns:a16="http://schemas.microsoft.com/office/drawing/2014/main" id="{F4B6C7CC-27DB-EA21-1C17-5E44370F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00475"/>
            <a:ext cx="3476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Joindre le référentiel</a:t>
            </a:r>
          </a:p>
          <a:p xmlns:a="http://schemas.openxmlformats.org/drawingml/2006/main">
            <a:pPr>
              <a:buNone/>
              <a:def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Agréger au département</a:t>
            </a:r>
          </a:p>
        </p:txBody>
      </p:sp>
      <p:sp>
        <p:nvSpPr>
          <p:cNvPr id="13" name="text_116">
            <a:extLst xmlns:a="http://schemas.openxmlformats.org/drawingml/2006/main">
              <a:ext uri="{FF2B5EF4-FFF2-40B4-BE49-F238E27FC236}">
                <a16:creationId xmlns:a16="http://schemas.microsoft.com/office/drawing/2014/main" id="{09199DE0-5F07-B08D-309D-092927B2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2387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Calculs réutilisables</a:t>
            </a:r>
          </a:p>
        </p:txBody>
      </p:sp>
      <p:sp>
        <p:nvSpPr>
          <p:cNvPr id="14" name="text_117">
            <a:extLst xmlns:a="http://schemas.openxmlformats.org/drawingml/2006/main">
              <a:ext uri="{FF2B5EF4-FFF2-40B4-BE49-F238E27FC236}">
                <a16:creationId xmlns:a16="http://schemas.microsoft.com/office/drawing/2014/main" id="{330DC706-4A5A-A73A-9A4A-2AA3A077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552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FFB06B"/>
                </a:solidFill>
                <a:latin typeface="DejaVu Sans"/>
                <a:ea typeface="DejaVu Sans"/>
                <a:cs typeface="DejaVu Sans"/>
              </a:defRPr>
            </a:pPr>
            <a:r>
              <a:rPr sz="2780" b="1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marts</a:t>
            </a:r>
            <a:endParaRPr sz="2780" b="1">
              <a:solidFill>
                <a:srgbClr val="FFB06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text_118">
            <a:extLst xmlns:a="http://schemas.openxmlformats.org/drawingml/2006/main">
              <a:ext uri="{FF2B5EF4-FFF2-40B4-BE49-F238E27FC236}">
                <a16:creationId xmlns:a16="http://schemas.microsoft.com/office/drawing/2014/main" id="{7412B1B5-9D45-743B-E104-92B0B736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18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b="1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TABLES</a:t>
            </a:r>
          </a:p>
        </p:txBody>
      </p:sp>
      <p:sp>
        <p:nvSpPr>
          <p:cNvPr id="16" name="line_119">
            <a:extLst xmlns:a="http://schemas.openxmlformats.org/drawingml/2006/main">
              <a:ext uri="{FF2B5EF4-FFF2-40B4-BE49-F238E27FC236}">
                <a16:creationId xmlns:a16="http://schemas.microsoft.com/office/drawing/2014/main" id="{D98D2A2F-514F-ABA7-5E85-502A6CA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7" name="text_120">
            <a:extLst xmlns:a="http://schemas.openxmlformats.org/drawingml/2006/main">
              <a:ext uri="{FF2B5EF4-FFF2-40B4-BE49-F238E27FC236}">
                <a16:creationId xmlns:a16="http://schemas.microsoft.com/office/drawing/2014/main" id="{B388323D-B4FF-369F-FBC7-918FCAAA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00475"/>
            <a:ext cx="3476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8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Exposer les faits</a:t>
            </a:r>
          </a:p>
          <a:p xmlns:a="http://schemas.openxmlformats.org/drawingml/2006/main">
            <a:pPr algn="ctr">
              <a:buNone/>
              <a:defRPr sz="21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28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et les tables d’usage</a:t>
            </a:r>
          </a:p>
        </p:txBody>
      </p:sp>
      <p:sp>
        <p:nvSpPr>
          <p:cNvPr id="18" name="text_121">
            <a:extLst xmlns:a="http://schemas.openxmlformats.org/drawingml/2006/main">
              <a:ext uri="{FF2B5EF4-FFF2-40B4-BE49-F238E27FC236}">
                <a16:creationId xmlns:a16="http://schemas.microsoft.com/office/drawing/2014/main" id="{1355EB03-38C7-A54F-BE80-7FEF572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387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EDA, Power BI, ML</a:t>
            </a:r>
          </a:p>
        </p:txBody>
      </p:sp>
      <p:sp>
        <p:nvSpPr>
          <p:cNvPr id="3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862EAB4-4F99-F6E1-3AD6-FAEBAB6E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Trois couches pour préparer les données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755F9CB-E5EC-B00D-5FB7-3C89039C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03 · TRANSFORMER · dbt</a:t>
            </a:r>
          </a:p>
        </p:txBody>
      </p:sp>
    </p:spTree>
    <p:extLst>
      <p:ext uri="{BB962C8B-B14F-4D97-AF65-F5344CB8AC3E}">
        <p14:creationId xmlns:p14="http://schemas.microsoft.com/office/powerpoint/2010/main" val="1908205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_200">
            <a:extLst xmlns:a="http://schemas.openxmlformats.org/drawingml/2006/main">
              <a:ext uri="{FF2B5EF4-FFF2-40B4-BE49-F238E27FC236}">
                <a16:creationId xmlns:a16="http://schemas.microsoft.com/office/drawing/2014/main" id="{1C16EDA3-8092-4B20-82B5-E2A4EC6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77146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text_201">
            <a:extLst xmlns:a="http://schemas.openxmlformats.org/drawingml/2006/main">
              <a:ext uri="{FF2B5EF4-FFF2-40B4-BE49-F238E27FC236}">
                <a16:creationId xmlns:a16="http://schemas.microsoft.com/office/drawing/2014/main" id="{E456383C-C4F9-409B-A190-F8E2CA0B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3077146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Dépôt et authentification</a:t>
            </a:r>
          </a:p>
        </p:txBody>
      </p:sp>
      <p:sp>
        <p:nvSpPr>
          <p:cNvPr id="8" name="text_202">
            <a:extLst xmlns:a="http://schemas.openxmlformats.org/drawingml/2006/main">
              <a:ext uri="{FF2B5EF4-FFF2-40B4-BE49-F238E27FC236}">
                <a16:creationId xmlns:a16="http://schemas.microsoft.com/office/drawing/2014/main" id="{5FA223A8-7552-4E45-AE90-FA1CD7CF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91496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text_203">
            <a:extLst xmlns:a="http://schemas.openxmlformats.org/drawingml/2006/main">
              <a:ext uri="{FF2B5EF4-FFF2-40B4-BE49-F238E27FC236}">
                <a16:creationId xmlns:a16="http://schemas.microsoft.com/office/drawing/2014/main" id="{9E18E60E-3E28-4861-B1C5-84EA0B93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3591496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Environnement uv</a:t>
            </a:r>
          </a:p>
        </p:txBody>
      </p:sp>
      <p:sp>
        <p:nvSpPr>
          <p:cNvPr id="10" name="text_204">
            <a:extLst xmlns:a="http://schemas.openxmlformats.org/drawingml/2006/main">
              <a:ext uri="{FF2B5EF4-FFF2-40B4-BE49-F238E27FC236}">
                <a16:creationId xmlns:a16="http://schemas.microsoft.com/office/drawing/2014/main" id="{A990A1B5-2547-4374-9503-B86F02EE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05846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text_205">
            <a:extLst xmlns:a="http://schemas.openxmlformats.org/drawingml/2006/main">
              <a:ext uri="{FF2B5EF4-FFF2-40B4-BE49-F238E27FC236}">
                <a16:creationId xmlns:a16="http://schemas.microsoft.com/office/drawing/2014/main" id="{CED42A7C-231F-442A-B535-C3CE3B6A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105846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Collecte des deux sources</a:t>
            </a:r>
          </a:p>
        </p:txBody>
      </p:sp>
      <p:sp>
        <p:nvSpPr>
          <p:cNvPr id="12" name="text_206">
            <a:extLst xmlns:a="http://schemas.openxmlformats.org/drawingml/2006/main">
              <a:ext uri="{FF2B5EF4-FFF2-40B4-BE49-F238E27FC236}">
                <a16:creationId xmlns:a16="http://schemas.microsoft.com/office/drawing/2014/main" id="{E0E9DF5F-6E3E-4304-9153-6D561423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20196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3" name="text_207">
            <a:extLst xmlns:a="http://schemas.openxmlformats.org/drawingml/2006/main">
              <a:ext uri="{FF2B5EF4-FFF2-40B4-BE49-F238E27FC236}">
                <a16:creationId xmlns:a16="http://schemas.microsoft.com/office/drawing/2014/main" id="{47AFDA25-4A67-420B-9C46-096E0E2E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620196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Construction et tests </a:t>
            </a:r>
            <a:r>
              <a: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dbt</a:t>
            </a:r>
            <a:endParaRPr sz="1800" b="0">
              <a:solidFill>
                <a:srgbClr val="C5D5D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text_197">
            <a:extLst xmlns:a="http://schemas.openxmlformats.org/drawingml/2006/main">
              <a:ext uri="{FF2B5EF4-FFF2-40B4-BE49-F238E27FC236}">
                <a16:creationId xmlns:a16="http://schemas.microsoft.com/office/drawing/2014/main" id="{A5D50E21-49B0-3ED6-49CD-5292B13F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06 · AUTOMATISER</a:t>
            </a:r>
          </a:p>
        </p:txBody>
      </p:sp>
      <p:sp>
        <p:nvSpPr>
          <p:cNvPr id="14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91B141-710D-2328-4628-417C668D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Une routine quotidienne observable</a:t>
            </a:r>
          </a:p>
        </p:txBody>
      </p:sp>
      <p:pic>
        <p:nvPicPr>
          <p:cNvPr id="28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c85f0e2934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49263" y="1737796"/>
            <a:ext cx="6277851" cy="3705742"/>
          </a:xfrm>
          <a:prstGeom xmlns:a="http://schemas.openxmlformats.org/drawingml/2006/main" prst="roundRect">
            <a:avLst>
              <a:gd name="adj" fmla="val 4167"/>
            </a:avLst>
          </a:prstGeom>
          <a:ln xmlns:a="http://schemas.openxmlformats.org/drawingml/2006/main" w="76200" cap="sq">
            <a:solidFill>
              <a:srgbClr val="292929"/>
            </a:solidFill>
            <a:miter/>
          </a:ln>
          <a:effectLst xmlns:a="http://schemas.openxmlformats.org/drawingml/2006/main">
            <a:reflection blurRad="12700" stA="28000" endPos="28000" dist="5000" dir="5400000" sy="-100000" algn="bl" rotWithShape="0"/>
          </a:effectLst>
        </p:spPr>
      </p:pic>
      <p:sp>
        <p:nvSpPr>
          <p:cNvPr id="2" name="text_199">
            <a:extLst xmlns:a="http://schemas.openxmlformats.org/drawingml/2006/main">
              <a:ext uri="{FF2B5EF4-FFF2-40B4-BE49-F238E27FC236}">
                <a16:creationId xmlns:a16="http://schemas.microsoft.com/office/drawing/2014/main" id="{42F0C9F8-A6D1-1A68-997D-35DFBFB8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57996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Exécution planifiée chaque jour</a:t>
            </a:r>
          </a:p>
        </p:txBody>
      </p:sp>
      <p:sp>
        <p:nvSpPr>
          <p:cNvPr id="4" name="TextBox 22">
            <a:extLst xmlns:a="http://schemas.openxmlformats.org/drawingml/2006/main">
              <a:ext uri="{FF2B5EF4-FFF2-40B4-BE49-F238E27FC236}">
                <a16:creationId xmlns:a16="http://schemas.microsoft.com/office/drawing/2014/main" id="{CABFE217-BFBA-3A9E-42BB-3BA766FE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30368"/>
            <a:ext cx="4572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Pipeline 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quotidien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: sources → 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contrôles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chargement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dbt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build. Le ML et 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Streamlit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restent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séparés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cette</a:t>
            </a:r>
            <a:r>
              <a:rPr sz="90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routine.</a:t>
            </a:r>
          </a:p>
        </p:txBody>
      </p:sp>
      <p:sp>
        <p:nvSpPr>
          <p:cNvPr id="16" name="TextBox 21">
            <a:extLst xmlns:a="http://schemas.openxmlformats.org/drawingml/2006/main">
              <a:ext uri="{FF2B5EF4-FFF2-40B4-BE49-F238E27FC236}">
                <a16:creationId xmlns:a16="http://schemas.microsoft.com/office/drawing/2014/main" id="{B365E5A3-B61B-063C-AEED-E5A09DC6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4617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Workflow observable dans GitHub Actions : </a:t>
            </a: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chaque</a:t>
            </a: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étape </a:t>
            </a: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est</a:t>
            </a: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visible, </a:t>
            </a: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datée</a:t>
            </a: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et </a:t>
            </a: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rejouable</a:t>
            </a:r>
            <a:r>
              <a:rPr sz="9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3037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_160">
            <a:extLst xmlns:a="http://schemas.openxmlformats.org/drawingml/2006/main">
              <a:ext uri="{FF2B5EF4-FFF2-40B4-BE49-F238E27FC236}">
                <a16:creationId xmlns:a16="http://schemas.microsoft.com/office/drawing/2014/main" id="{26D19F18-EC13-03C4-D115-116A84D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/>
              <a:t>67 584 </a:t>
            </a: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observations avant séparation</a:t>
            </a:r>
          </a:p>
        </p:txBody>
      </p:sp>
      <p:sp>
        <p:nvSpPr>
          <p:cNvPr id="5" name="surface_161">
            <a:extLst xmlns:a="http://schemas.openxmlformats.org/drawingml/2006/main">
              <a:ext uri="{FF2B5EF4-FFF2-40B4-BE49-F238E27FC236}">
                <a16:creationId xmlns:a16="http://schemas.microsoft.com/office/drawing/2014/main" id="{9FD184A4-65BE-3F72-8CDA-E4C79E4B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urface_163">
            <a:extLst xmlns:a="http://schemas.openxmlformats.org/drawingml/2006/main">
              <a:ext uri="{FF2B5EF4-FFF2-40B4-BE49-F238E27FC236}">
                <a16:creationId xmlns:a16="http://schemas.microsoft.com/office/drawing/2014/main" id="{0D867EF0-2038-7A7C-BD9E-DE5E6970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259" y="3209925"/>
            <a:ext cx="377414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_164">
            <a:extLst xmlns:a="http://schemas.openxmlformats.org/drawingml/2006/main">
              <a:ext uri="{FF2B5EF4-FFF2-40B4-BE49-F238E27FC236}">
                <a16:creationId xmlns:a16="http://schemas.microsoft.com/office/drawing/2014/main" id="{5ED31526-15DC-D0B3-7E16-AB1CB26C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617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Apprentissage</a:t>
            </a:r>
          </a:p>
        </p:txBody>
      </p:sp>
      <p:sp>
        <p:nvSpPr>
          <p:cNvPr id="9" name="text_165">
            <a:extLst xmlns:a="http://schemas.openxmlformats.org/drawingml/2006/main">
              <a:ext uri="{FF2B5EF4-FFF2-40B4-BE49-F238E27FC236}">
                <a16:creationId xmlns:a16="http://schemas.microsoft.com/office/drawing/2014/main" id="{9A672DA8-B95C-35E1-75E5-1ACE0E6C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17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/>
              <a:t>46 080 lignes</a:t>
            </a:r>
          </a:p>
        </p:txBody>
      </p:sp>
      <p:sp>
        <p:nvSpPr>
          <p:cNvPr id="10" name="text_166">
            <a:extLst xmlns:a="http://schemas.openxmlformats.org/drawingml/2006/main">
              <a:ext uri="{FF2B5EF4-FFF2-40B4-BE49-F238E27FC236}">
                <a16:creationId xmlns:a16="http://schemas.microsoft.com/office/drawing/2014/main" id="{000E1518-305B-BEE9-7143-B41B9E49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950"/>
              <a:t>04/06/2024 au 02/10/2025</a:t>
            </a:r>
            <a:endParaRPr sz="1950" b="0">
              <a:solidFill>
                <a:srgbClr val="C5D5D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_167">
            <a:extLst xmlns:a="http://schemas.openxmlformats.org/drawingml/2006/main">
              <a:ext uri="{FF2B5EF4-FFF2-40B4-BE49-F238E27FC236}">
                <a16:creationId xmlns:a16="http://schemas.microsoft.com/office/drawing/2014/main" id="{F033243B-F83F-58E9-9833-55F96C54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259" y="4176712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B06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12" name="text_168">
            <a:extLst xmlns:a="http://schemas.openxmlformats.org/drawingml/2006/main">
              <a:ext uri="{FF2B5EF4-FFF2-40B4-BE49-F238E27FC236}">
                <a16:creationId xmlns:a16="http://schemas.microsoft.com/office/drawing/2014/main" id="{5AFA02E0-EE41-C82D-95BE-CF83990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259" y="47625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/>
              <a:t>21 504 lignes</a:t>
            </a:r>
          </a:p>
        </p:txBody>
      </p:sp>
      <p:sp>
        <p:nvSpPr>
          <p:cNvPr id="16" name="text_172">
            <a:extLst xmlns:a="http://schemas.openxmlformats.org/drawingml/2006/main">
              <a:ext uri="{FF2B5EF4-FFF2-40B4-BE49-F238E27FC236}">
                <a16:creationId xmlns:a16="http://schemas.microsoft.com/office/drawing/2014/main" id="{0CA3ED29-5375-F6A4-E6C5-A1102D79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229350"/>
            <a:ext cx="1121294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EADB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Choix de faire le split sur une notion de temporalité</a:t>
            </a:r>
            <a:r>
              <a:rPr sz="1425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         </a:t>
            </a:r>
            <a:r>
              <a:rPr sz="1425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                                     Ratio actuel : Train 68% / Test 32% </a:t>
            </a:r>
          </a:p>
        </p:txBody>
      </p:sp>
      <p:sp>
        <p:nvSpPr>
          <p:cNvPr id="3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2F11A17-2555-972B-7517-E05EB8F4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Tester sur des dates plus récentes</a:t>
            </a:r>
          </a:p>
        </p:txBody>
      </p:sp>
      <p:sp>
        <p:nvSpPr>
          <p:cNvPr id="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4DCB96-F4F5-8036-15F3-9D379724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05 · ÉVALUER</a:t>
            </a:r>
          </a:p>
        </p:txBody>
      </p:sp>
      <p:sp>
        <p:nvSpPr>
          <p:cNvPr id="14" name="text_169">
            <a:extLst xmlns:a="http://schemas.openxmlformats.org/drawingml/2006/main">
              <a:ext uri="{FF2B5EF4-FFF2-40B4-BE49-F238E27FC236}">
                <a16:creationId xmlns:a16="http://schemas.microsoft.com/office/drawing/2014/main" id="{AF85AE61-C94F-4F43-43A7-DCB1A7FA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259" y="5329382"/>
            <a:ext cx="3436865" cy="438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875"/>
              <a:t>29/05/2026 au 02/10/2026</a:t>
            </a:r>
            <a:endParaRPr sz="1875" b="0">
              <a:solidFill>
                <a:srgbClr val="C5D5D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96029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_262">
            <a:extLst xmlns:a="http://schemas.openxmlformats.org/drawingml/2006/main">
              <a:ext uri="{FF2B5EF4-FFF2-40B4-BE49-F238E27FC236}">
                <a16:creationId xmlns:a16="http://schemas.microsoft.com/office/drawing/2014/main" id="{8D2EA1FE-F987-4365-8F52-A9CEBE10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143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Variables du jour J</a:t>
            </a:r>
          </a:p>
        </p:txBody>
      </p:sp>
      <p:sp>
        <p:nvSpPr>
          <p:cNvPr id="5" name="text_263">
            <a:extLst xmlns:a="http://schemas.openxmlformats.org/drawingml/2006/main">
              <a:ext uri="{FF2B5EF4-FFF2-40B4-BE49-F238E27FC236}">
                <a16:creationId xmlns:a16="http://schemas.microsoft.com/office/drawing/2014/main" id="{41EC954D-A02F-4023-AC1C-FC3AE79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90725"/>
            <a:ext cx="528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B06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Fenêtre de J−6 à J</a:t>
            </a:r>
          </a:p>
        </p:txBody>
      </p:sp>
      <p:sp>
        <p:nvSpPr>
          <p:cNvPr id="6" name="text_264">
            <a:extLst xmlns:a="http://schemas.openxmlformats.org/drawingml/2006/main">
              <a:ext uri="{FF2B5EF4-FFF2-40B4-BE49-F238E27FC236}">
                <a16:creationId xmlns:a16="http://schemas.microsoft.com/office/drawing/2014/main" id="{C4E2F14C-8090-467F-8935-AC35941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horizon_jours</a:t>
            </a:r>
          </a:p>
        </p:txBody>
      </p:sp>
      <p:sp>
        <p:nvSpPr>
          <p:cNvPr id="7" name="line_265">
            <a:extLst xmlns:a="http://schemas.openxmlformats.org/drawingml/2006/main">
              <a:ext uri="{FF2B5EF4-FFF2-40B4-BE49-F238E27FC236}">
                <a16:creationId xmlns:a16="http://schemas.microsoft.com/office/drawing/2014/main" id="{B6A9BEAA-5FD3-482F-BC10-546D8357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_266">
            <a:extLst xmlns:a="http://schemas.openxmlformats.org/drawingml/2006/main">
              <a:ext uri="{FF2B5EF4-FFF2-40B4-BE49-F238E27FC236}">
                <a16:creationId xmlns:a16="http://schemas.microsoft.com/office/drawing/2014/main" id="{C7836E06-A6A6-455D-BE16-D1FD2EC1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temperature_moyenne</a:t>
            </a:r>
          </a:p>
        </p:txBody>
      </p:sp>
      <p:sp>
        <p:nvSpPr>
          <p:cNvPr id="9" name="line_267">
            <a:extLst xmlns:a="http://schemas.openxmlformats.org/drawingml/2006/main">
              <a:ext uri="{FF2B5EF4-FFF2-40B4-BE49-F238E27FC236}">
                <a16:creationId xmlns:a16="http://schemas.microsoft.com/office/drawing/2014/main" id="{6A1906E6-CF26-4321-B037-52A0567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_268">
            <a:extLst xmlns:a="http://schemas.openxmlformats.org/drawingml/2006/main">
              <a:ext uri="{FF2B5EF4-FFF2-40B4-BE49-F238E27FC236}">
                <a16:creationId xmlns:a16="http://schemas.microsoft.com/office/drawing/2014/main" id="{4ED99D1A-4D87-4E21-9053-92544638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temperature_maximale</a:t>
            </a:r>
          </a:p>
        </p:txBody>
      </p:sp>
      <p:sp>
        <p:nvSpPr>
          <p:cNvPr id="11" name="line_269">
            <a:extLst xmlns:a="http://schemas.openxmlformats.org/drawingml/2006/main">
              <a:ext uri="{FF2B5EF4-FFF2-40B4-BE49-F238E27FC236}">
                <a16:creationId xmlns:a16="http://schemas.microsoft.com/office/drawing/2014/main" id="{23887051-094A-485C-9300-4FCE9E53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_270">
            <a:extLst xmlns:a="http://schemas.openxmlformats.org/drawingml/2006/main">
              <a:ext uri="{FF2B5EF4-FFF2-40B4-BE49-F238E27FC236}">
                <a16:creationId xmlns:a16="http://schemas.microsoft.com/office/drawing/2014/main" id="{BAE869B5-0FED-4D7A-8631-496978D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humidite_moyenne</a:t>
            </a:r>
          </a:p>
        </p:txBody>
      </p:sp>
      <p:sp>
        <p:nvSpPr>
          <p:cNvPr id="13" name="line_271">
            <a:extLst xmlns:a="http://schemas.openxmlformats.org/drawingml/2006/main">
              <a:ext uri="{FF2B5EF4-FFF2-40B4-BE49-F238E27FC236}">
                <a16:creationId xmlns:a16="http://schemas.microsoft.com/office/drawing/2014/main" id="{EDB738FE-B5F6-436B-B47B-61AE7FC7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_272">
            <a:extLst xmlns:a="http://schemas.openxmlformats.org/drawingml/2006/main">
              <a:ext uri="{FF2B5EF4-FFF2-40B4-BE49-F238E27FC236}">
                <a16:creationId xmlns:a16="http://schemas.microsoft.com/office/drawing/2014/main" id="{7BB72DA0-AF96-485E-AC2E-B88ED020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precipitations_moyennes</a:t>
            </a:r>
          </a:p>
        </p:txBody>
      </p:sp>
      <p:sp>
        <p:nvSpPr>
          <p:cNvPr id="15" name="line_273">
            <a:extLst xmlns:a="http://schemas.openxmlformats.org/drawingml/2006/main">
              <a:ext uri="{FF2B5EF4-FFF2-40B4-BE49-F238E27FC236}">
                <a16:creationId xmlns:a16="http://schemas.microsoft.com/office/drawing/2014/main" id="{5EA6361D-210B-4499-B043-57AE1BBF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_274">
            <a:extLst xmlns:a="http://schemas.openxmlformats.org/drawingml/2006/main">
              <a:ext uri="{FF2B5EF4-FFF2-40B4-BE49-F238E27FC236}">
                <a16:creationId xmlns:a16="http://schemas.microsoft.com/office/drawing/2014/main" id="{DFBCBB6C-33DB-4819-8038-F1137045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rafale_vent_maximale</a:t>
            </a:r>
          </a:p>
        </p:txBody>
      </p:sp>
      <p:sp>
        <p:nvSpPr>
          <p:cNvPr id="17" name="line_275">
            <a:extLst xmlns:a="http://schemas.openxmlformats.org/drawingml/2006/main">
              <a:ext uri="{FF2B5EF4-FFF2-40B4-BE49-F238E27FC236}">
                <a16:creationId xmlns:a16="http://schemas.microsoft.com/office/drawing/2014/main" id="{7D5262FA-D181-4BE6-834E-B2D3667C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_276">
            <a:extLst xmlns:a="http://schemas.openxmlformats.org/drawingml/2006/main">
              <a:ext uri="{FF2B5EF4-FFF2-40B4-BE49-F238E27FC236}">
                <a16:creationId xmlns:a16="http://schemas.microsoft.com/office/drawing/2014/main" id="{A0A901BE-5025-4CE3-9079-3AC1BAAA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deficit_pression_vapeur_maximal</a:t>
            </a:r>
          </a:p>
        </p:txBody>
      </p:sp>
      <p:sp>
        <p:nvSpPr>
          <p:cNvPr id="19" name="line_277">
            <a:extLst xmlns:a="http://schemas.openxmlformats.org/drawingml/2006/main">
              <a:ext uri="{FF2B5EF4-FFF2-40B4-BE49-F238E27FC236}">
                <a16:creationId xmlns:a16="http://schemas.microsoft.com/office/drawing/2014/main" id="{99FFC7F6-8C90-4768-9AD9-08F87A09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_278">
            <a:extLst xmlns:a="http://schemas.openxmlformats.org/drawingml/2006/main">
              <a:ext uri="{FF2B5EF4-FFF2-40B4-BE49-F238E27FC236}">
                <a16:creationId xmlns:a16="http://schemas.microsoft.com/office/drawing/2014/main" id="{DE8F4DC0-0D8B-4792-AB2C-9FBFF0E5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temperature_moyenne_7j</a:t>
            </a:r>
          </a:p>
        </p:txBody>
      </p:sp>
      <p:sp>
        <p:nvSpPr>
          <p:cNvPr id="21" name="line_279">
            <a:extLst xmlns:a="http://schemas.openxmlformats.org/drawingml/2006/main">
              <a:ext uri="{FF2B5EF4-FFF2-40B4-BE49-F238E27FC236}">
                <a16:creationId xmlns:a16="http://schemas.microsoft.com/office/drawing/2014/main" id="{E9E61449-E4DE-46A9-98BC-96E1599C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_280">
            <a:extLst xmlns:a="http://schemas.openxmlformats.org/drawingml/2006/main">
              <a:ext uri="{FF2B5EF4-FFF2-40B4-BE49-F238E27FC236}">
                <a16:creationId xmlns:a16="http://schemas.microsoft.com/office/drawing/2014/main" id="{D5229F4B-6B62-43F6-9569-86575F89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33725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temperature_maximale_7j</a:t>
            </a:r>
          </a:p>
        </p:txBody>
      </p:sp>
      <p:sp>
        <p:nvSpPr>
          <p:cNvPr id="23" name="line_281">
            <a:extLst xmlns:a="http://schemas.openxmlformats.org/drawingml/2006/main">
              <a:ext uri="{FF2B5EF4-FFF2-40B4-BE49-F238E27FC236}">
                <a16:creationId xmlns:a16="http://schemas.microsoft.com/office/drawing/2014/main" id="{9D95DF35-A7F2-48B6-B5F6-DA52DA6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1472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_282">
            <a:extLst xmlns:a="http://schemas.openxmlformats.org/drawingml/2006/main">
              <a:ext uri="{FF2B5EF4-FFF2-40B4-BE49-F238E27FC236}">
                <a16:creationId xmlns:a16="http://schemas.microsoft.com/office/drawing/2014/main" id="{523F060B-0C91-4171-B06D-A85740DB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8140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humidite_moyenne_7j</a:t>
            </a:r>
          </a:p>
        </p:txBody>
      </p:sp>
      <p:sp>
        <p:nvSpPr>
          <p:cNvPr id="25" name="line_283">
            <a:extLst xmlns:a="http://schemas.openxmlformats.org/drawingml/2006/main">
              <a:ext uri="{FF2B5EF4-FFF2-40B4-BE49-F238E27FC236}">
                <a16:creationId xmlns:a16="http://schemas.microsoft.com/office/drawing/2014/main" id="{1FF47315-EB3D-4BB6-A8E2-B2EA7419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624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_284">
            <a:extLst xmlns:a="http://schemas.openxmlformats.org/drawingml/2006/main">
              <a:ext uri="{FF2B5EF4-FFF2-40B4-BE49-F238E27FC236}">
                <a16:creationId xmlns:a16="http://schemas.microsoft.com/office/drawing/2014/main" id="{C3C4CA73-5DCE-4077-A84C-BA4A3465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precipitations_moyennes_7j</a:t>
            </a:r>
          </a:p>
        </p:txBody>
      </p:sp>
      <p:sp>
        <p:nvSpPr>
          <p:cNvPr id="27" name="line_285">
            <a:extLst xmlns:a="http://schemas.openxmlformats.org/drawingml/2006/main">
              <a:ext uri="{FF2B5EF4-FFF2-40B4-BE49-F238E27FC236}">
                <a16:creationId xmlns:a16="http://schemas.microsoft.com/office/drawing/2014/main" id="{6BCB8903-B5A2-45B3-B84D-52B9C23A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007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_286">
            <a:extLst xmlns:a="http://schemas.openxmlformats.org/drawingml/2006/main">
              <a:ext uri="{FF2B5EF4-FFF2-40B4-BE49-F238E27FC236}">
                <a16:creationId xmlns:a16="http://schemas.microsoft.com/office/drawing/2014/main" id="{BBE1A2BD-DE71-4932-AA44-E964EBC7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rafale_vent_maximale_7j</a:t>
            </a:r>
          </a:p>
        </p:txBody>
      </p:sp>
      <p:sp>
        <p:nvSpPr>
          <p:cNvPr id="29" name="line_287">
            <a:extLst xmlns:a="http://schemas.openxmlformats.org/drawingml/2006/main">
              <a:ext uri="{FF2B5EF4-FFF2-40B4-BE49-F238E27FC236}">
                <a16:creationId xmlns:a16="http://schemas.microsoft.com/office/drawing/2014/main" id="{D756BD9A-82D7-413F-8A46-C2097004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_288">
            <a:extLst xmlns:a="http://schemas.openxmlformats.org/drawingml/2006/main">
              <a:ext uri="{FF2B5EF4-FFF2-40B4-BE49-F238E27FC236}">
                <a16:creationId xmlns:a16="http://schemas.microsoft.com/office/drawing/2014/main" id="{028C2A16-C9F6-4434-B970-2DFAB9A9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24425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deficit_pression_vapeur_maximal_7j</a:t>
            </a:r>
          </a:p>
        </p:txBody>
      </p:sp>
      <p:sp>
        <p:nvSpPr>
          <p:cNvPr id="31" name="line_289">
            <a:extLst xmlns:a="http://schemas.openxmlformats.org/drawingml/2006/main">
              <a:ext uri="{FF2B5EF4-FFF2-40B4-BE49-F238E27FC236}">
                <a16:creationId xmlns:a16="http://schemas.microsoft.com/office/drawing/2014/main" id="{95A6A0E7-EF13-421D-9ADA-337C5FD6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0542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_290">
            <a:extLst xmlns:a="http://schemas.openxmlformats.org/drawingml/2006/main">
              <a:ext uri="{FF2B5EF4-FFF2-40B4-BE49-F238E27FC236}">
                <a16:creationId xmlns:a16="http://schemas.microsoft.com/office/drawing/2014/main" id="{5838AEED-1B60-43B0-AB9A-EF333385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7210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jours_sans_pluie_7j</a:t>
            </a:r>
          </a:p>
        </p:txBody>
      </p:sp>
      <p:sp>
        <p:nvSpPr>
          <p:cNvPr id="33" name="line_291">
            <a:extLst xmlns:a="http://schemas.openxmlformats.org/drawingml/2006/main">
              <a:ext uri="{FF2B5EF4-FFF2-40B4-BE49-F238E27FC236}">
                <a16:creationId xmlns:a16="http://schemas.microsoft.com/office/drawing/2014/main" id="{2D702DAA-6B89-42DC-8744-BC10DA0C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531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3C937BE-FFE3-04D9-D5A1-8A614501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14 variables météo pour J+1 et J+2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D17CBFF-5A84-9FC7-C9F9-ECCB54C4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05 · EXPÉRIMENTER</a:t>
            </a:r>
          </a:p>
        </p:txBody>
      </p:sp>
    </p:spTree>
    <p:extLst>
      <p:ext uri="{BB962C8B-B14F-4D97-AF65-F5344CB8AC3E}">
        <p14:creationId xmlns:p14="http://schemas.microsoft.com/office/powerpoint/2010/main" val="5510610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FF76D08-3E08-F0A8-6DEF-D1901F8C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0175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3F5E43C-21E9-CEC6-C66E-341C5AA3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5448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 i="0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64,35 %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609FA07-2E37-695C-97F7-B4D2943D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29968"/>
            <a:ext cx="2560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de prédictions correctes
sur le test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1CD6A98-5500-81D7-6F33-438D7C7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17320"/>
            <a:ext cx="763524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7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DCEBAE-0B43-98C4-DD14-A88C1503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58191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RANDOM FOREST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0FEDEA0-C770-A381-8D3F-41AA051A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883664"/>
            <a:ext cx="5166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Meilleure</a:t>
            </a:r>
            <a:r>
              <a:rPr sz="15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 accuracy du prototype </a:t>
            </a:r>
            <a:r>
              <a:rPr sz="15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comparé</a:t>
            </a:r>
            <a:endParaRPr sz="1500" b="1" i="0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789C4DC-0456-9A05-3775-2FA67C44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55648"/>
            <a:ext cx="1737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1" i="0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F1 macro  0,417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3142CC3-3AD5-5AAE-1A06-282A7FF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9964" y="4197263"/>
            <a:ext cx="100584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2D3296-9AF9-FBCD-1B35-68D600B9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9964" y="4215552"/>
            <a:ext cx="1005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0,381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5C0A1D5-8D27-8E64-A8EB-F82AB947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9964" y="4764107"/>
            <a:ext cx="100584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3362A4D-498F-09E1-991C-8E1D15FB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9964" y="4782396"/>
            <a:ext cx="1005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0,404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03DDCCC3-D4E5-6BBD-A687-83883102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9964" y="5330950"/>
            <a:ext cx="100584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FFB0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352CE91-5AB7-2271-73DE-7D94046C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9964" y="5349238"/>
            <a:ext cx="1005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 i="0">
                <a:solidFill>
                  <a:srgbClr val="FFB06B"/>
                </a:solidFill>
                <a:latin typeface="DejaVu Sans"/>
                <a:ea typeface="DejaVu Sans"/>
                <a:cs typeface="DejaVu Sans"/>
              </a:rPr>
              <a:t>0,417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2B58B03-D0AA-F116-096C-578337CA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161661"/>
            <a:ext cx="5486400" cy="130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Accuracy = part des </a:t>
            </a:r>
            <a:r>
              <a:rPr sz="85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prédictions</a:t>
            </a:r>
            <a:r>
              <a:rPr sz="85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5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correctes</a:t>
            </a:r>
            <a:r>
              <a:rPr sz="85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 •  F1 macro = performance </a:t>
            </a:r>
            <a:r>
              <a:rPr sz="85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moyenne</a:t>
            </a:r>
            <a:r>
              <a:rPr sz="850" b="0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 entre les classes</a:t>
            </a:r>
          </a:p>
        </p:txBody>
      </p:sp>
      <p:sp>
        <p:nvSpPr>
          <p:cNvPr id="39" name="TextBox 10">
            <a:extLst xmlns:a="http://schemas.openxmlformats.org/drawingml/2006/main">
              <a:ext uri="{FF2B5EF4-FFF2-40B4-BE49-F238E27FC236}">
                <a16:creationId xmlns:a16="http://schemas.microsoft.com/office/drawing/2014/main" id="{5E0F6420-0920-0BCB-1B5A-83B0B9F5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10794"/>
            <a:ext cx="269748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MODÈLE</a:t>
            </a:r>
          </a:p>
        </p:txBody>
      </p:sp>
      <p:sp>
        <p:nvSpPr>
          <p:cNvPr id="40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CEEAF4-8F6B-D9CE-40A4-B8E8449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3310794"/>
            <a:ext cx="493776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ACCURACY</a:t>
            </a:r>
          </a:p>
        </p:txBody>
      </p:sp>
      <p:sp>
        <p:nvSpPr>
          <p:cNvPr id="41" name="TextBox 12">
            <a:extLst xmlns:a="http://schemas.openxmlformats.org/drawingml/2006/main">
              <a:ext uri="{FF2B5EF4-FFF2-40B4-BE49-F238E27FC236}">
                <a16:creationId xmlns:a16="http://schemas.microsoft.com/office/drawing/2014/main" id="{88D5B110-6811-6C82-5D22-838636CB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238168"/>
            <a:ext cx="141732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 b="1" i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F1 MACRO</a:t>
            </a:r>
          </a:p>
        </p:txBody>
      </p:sp>
      <p:sp>
        <p:nvSpPr>
          <p:cNvPr id="11" name="TextBox 1">
            <a:extLst xmlns:a="http://schemas.openxmlformats.org/drawingml/2006/main">
              <a:ext uri="{FF2B5EF4-FFF2-40B4-BE49-F238E27FC236}">
                <a16:creationId xmlns:a16="http://schemas.microsoft.com/office/drawing/2014/main" id="{B66064C1-37F4-5F3C-E3FF-3357B16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05 · ÉVALUER · RÉSULTATS DU PROTOTYPE</a:t>
            </a:r>
          </a:p>
        </p:txBody>
      </p:sp>
      <p:sp>
        <p:nvSpPr>
          <p:cNvPr id="12" name="TextBox 2">
            <a:extLst xmlns:a="http://schemas.openxmlformats.org/drawingml/2006/main">
              <a:ext uri="{FF2B5EF4-FFF2-40B4-BE49-F238E27FC236}">
                <a16:creationId xmlns:a16="http://schemas.microsoft.com/office/drawing/2014/main" id="{D6649271-6F89-54EA-041E-B9D6D4CF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Comparaison des modèles</a:t>
            </a:r>
          </a:p>
        </p:txBody>
      </p:sp>
      <p:sp>
        <p:nvSpPr>
          <p:cNvPr id="13" name="TextBox 19">
            <a:extLst xmlns:a="http://schemas.openxmlformats.org/drawingml/2006/main">
              <a:ext uri="{FF2B5EF4-FFF2-40B4-BE49-F238E27FC236}">
                <a16:creationId xmlns:a16="http://schemas.microsoft.com/office/drawing/2014/main" id="{031C1A78-F117-C03D-D3E4-1295748A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95547"/>
            <a:ext cx="1596614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Régression</a:t>
            </a:r>
            <a:r>
              <a:rPr sz="1100" b="0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00" b="0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logistique</a:t>
            </a:r>
            <a:endParaRPr sz="1100" b="0" i="0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TextBox 25">
            <a:extLst xmlns:a="http://schemas.openxmlformats.org/drawingml/2006/main">
              <a:ext uri="{FF2B5EF4-FFF2-40B4-BE49-F238E27FC236}">
                <a16:creationId xmlns:a16="http://schemas.microsoft.com/office/drawing/2014/main" id="{55B41A9A-288B-A262-4B73-70CCB383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62369"/>
            <a:ext cx="1435249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Arbre de </a:t>
            </a:r>
            <a:r>
              <a:rPr sz="1100" b="0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décision</a:t>
            </a:r>
            <a:endParaRPr sz="1100" b="0" i="0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" name="TextBox 31">
            <a:extLst xmlns:a="http://schemas.openxmlformats.org/drawingml/2006/main">
              <a:ext uri="{FF2B5EF4-FFF2-40B4-BE49-F238E27FC236}">
                <a16:creationId xmlns:a16="http://schemas.microsoft.com/office/drawing/2014/main" id="{30A74B34-3E23-5F36-3B04-54D2B77D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29192"/>
            <a:ext cx="1435249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Random Forest</a:t>
            </a:r>
          </a:p>
        </p:txBody>
      </p:sp>
      <p:sp>
        <p:nvSpPr>
          <p:cNvPr id="47" name="TextBox 45">
            <a:extLst xmlns:a="http://schemas.openxmlformats.org/drawingml/2006/main">
              <a:ext uri="{FF2B5EF4-FFF2-40B4-BE49-F238E27FC236}">
                <a16:creationId xmlns:a16="http://schemas.microsoft.com/office/drawing/2014/main" id="{C970EE4F-A518-2EB3-8DFE-2EAB2D81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5647"/>
            <a:ext cx="1713155" cy="172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20" b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Référence</a:t>
            </a:r>
            <a:r>
              <a:rPr sz="1120" b="0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 naïve (N2)</a:t>
            </a:r>
          </a:p>
        </p:txBody>
      </p:sp>
      <p:sp>
        <p:nvSpPr>
          <p:cNvPr id="48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6B8B242E-D9CF-70AB-DDA6-73F1FF59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3720384"/>
            <a:ext cx="4919472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B3001CFA-EE04-F3EC-683D-2F92300D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3720384"/>
            <a:ext cx="2873933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E77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TextBox 48">
            <a:extLst xmlns:a="http://schemas.openxmlformats.org/drawingml/2006/main">
              <a:ext uri="{FF2B5EF4-FFF2-40B4-BE49-F238E27FC236}">
                <a16:creationId xmlns:a16="http://schemas.microsoft.com/office/drawing/2014/main" id="{F678651F-07B9-C805-FA67-83B032F1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638088"/>
            <a:ext cx="713232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42,28 %</a:t>
            </a:r>
          </a:p>
        </p:txBody>
      </p:sp>
      <p:sp>
        <p:nvSpPr>
          <p:cNvPr id="52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6FBB5780-51C5-C082-CEC7-C62C7FE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4287719"/>
            <a:ext cx="4919472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63E6A934-685A-EE60-AAA2-4CE2952D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4287719"/>
            <a:ext cx="3269502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91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DE06E5B1-F41E-FF2E-A66D-CBE8AE1F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211519"/>
            <a:ext cx="713232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48,60 %</a:t>
            </a:r>
          </a:p>
        </p:txBody>
      </p:sp>
      <p:sp>
        <p:nvSpPr>
          <p:cNvPr id="56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A7D60DA2-6C66-BA77-75B4-12453D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4855054"/>
            <a:ext cx="4919472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BADA57F7-7C3B-3070-3F2B-43868DE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4855054"/>
            <a:ext cx="3543979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BF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TextBox 60">
            <a:extLst xmlns:a="http://schemas.openxmlformats.org/drawingml/2006/main">
              <a:ext uri="{FF2B5EF4-FFF2-40B4-BE49-F238E27FC236}">
                <a16:creationId xmlns:a16="http://schemas.microsoft.com/office/drawing/2014/main" id="{9A9EEE41-8A18-85FB-07A0-D6237556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84950"/>
            <a:ext cx="713232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52,68 %</a:t>
            </a:r>
          </a:p>
        </p:txBody>
      </p:sp>
      <p:sp>
        <p:nvSpPr>
          <p:cNvPr id="60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0EC5A426-C31D-1780-1879-C663AA77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5422390"/>
            <a:ext cx="4919472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3A6BC7BB-183E-046E-C5D5-95E650FC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5422390"/>
            <a:ext cx="4329063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TextBox 66">
            <a:extLst xmlns:a="http://schemas.openxmlformats.org/drawingml/2006/main">
              <a:ext uri="{FF2B5EF4-FFF2-40B4-BE49-F238E27FC236}">
                <a16:creationId xmlns:a16="http://schemas.microsoft.com/office/drawing/2014/main" id="{ADFF825E-F5EF-5296-7E1B-40A4407C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40733"/>
            <a:ext cx="713232" cy="146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64,35 %</a:t>
            </a:r>
          </a:p>
        </p:txBody>
      </p:sp>
      <p:sp>
        <p:nvSpPr>
          <p:cNvPr id="65" name="TextBox 69">
            <a:extLst xmlns:a="http://schemas.openxmlformats.org/drawingml/2006/main">
              <a:ext uri="{FF2B5EF4-FFF2-40B4-BE49-F238E27FC236}">
                <a16:creationId xmlns:a16="http://schemas.microsoft.com/office/drawing/2014/main" id="{1EB0F7B4-65C6-2ABD-3F3C-385C3460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410813"/>
            <a:ext cx="5290073" cy="13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8EADBE"/>
                </a:solidFill>
                <a:latin typeface="DejaVu Sans"/>
                <a:ea typeface="DejaVu Sans"/>
                <a:cs typeface="DejaVu Sans"/>
              </a:rPr>
              <a:t>Référence naïve : toujours prédire le niveau 2, appris sur l'entraînement 2024-2025.</a:t>
            </a:r>
          </a:p>
        </p:txBody>
      </p:sp>
      <p:sp>
        <p:nvSpPr>
          <p:cNvPr id="6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758B8C2-78EF-E5FC-47CA-D86AE115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9964" y="3630419"/>
            <a:ext cx="100584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145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TextBox 24">
            <a:extLst xmlns:a="http://schemas.openxmlformats.org/drawingml/2006/main">
              <a:ext uri="{FF2B5EF4-FFF2-40B4-BE49-F238E27FC236}">
                <a16:creationId xmlns:a16="http://schemas.microsoft.com/office/drawing/2014/main" id="{A8B616C9-F4E3-4F65-CD17-22BA96D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28252" y="3736241"/>
            <a:ext cx="966010" cy="150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0,</a:t>
            </a:r>
            <a:r>
              <a:rPr sz="950" b="0" i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150</a:t>
            </a:r>
            <a:endParaRPr sz="950" b="0" i="0">
              <a:solidFill>
                <a:srgbClr val="C5D5D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ZoneTexte 1">
            <a:extLst xmlns:a="http://schemas.openxmlformats.org/drawingml/2006/main">
              <a:ext uri="{FF2B5EF4-FFF2-40B4-BE49-F238E27FC236}">
                <a16:creationId xmlns:a16="http://schemas.microsoft.com/office/drawing/2014/main" id="{18CAA3F1-1E50-0F09-59BA-53A4E85B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693" y="6203077"/>
            <a:ext cx="432201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Émissions estimées : 0.003 g CO2e</a:t>
            </a:r>
          </a:p>
        </p:txBody>
      </p:sp>
    </p:spTree>
    <p:extLst>
      <p:ext uri="{BB962C8B-B14F-4D97-AF65-F5344CB8AC3E}">
        <p14:creationId xmlns:p14="http://schemas.microsoft.com/office/powerpoint/2010/main" val="41849910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c8897e13c4c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95705" y="1344168"/>
            <a:ext cx="7546984" cy="4715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softEdge rad="112500"/>
          </a:effectLst>
        </p:spPr>
      </p:pic>
      <p:sp>
        <p:nvSpPr>
          <p:cNvPr id="3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09F1CAC-7945-C22E-3B36-7248410B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Le rapport Power BI</a:t>
            </a:r>
          </a:p>
        </p:txBody>
      </p:sp>
      <p:sp>
        <p:nvSpPr>
          <p:cNvPr id="4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712D90-FDA9-46C8-0F63-1A97ABF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04 · RESTITUER</a:t>
            </a:r>
          </a:p>
        </p:txBody>
      </p:sp>
      <p:sp>
        <p:nvSpPr>
          <p:cNvPr id="36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4E25719-8E92-4C45-B972-DC2F060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1613911"/>
            <a:ext cx="3474720" cy="720000"/>
          </a:xfrm>
          <a:prstGeom xmlns:a="http://schemas.openxmlformats.org/drawingml/2006/main" prst="roundRect">
            <a:avLst>
              <a:gd name="adj" fmla="val 10787"/>
            </a:avLst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D8654BB5-4B6F-4979-9F97-C7F9F242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1613911"/>
            <a:ext cx="54864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15">
            <a:extLst xmlns:a="http://schemas.openxmlformats.org/drawingml/2006/main">
              <a:ext uri="{FF2B5EF4-FFF2-40B4-BE49-F238E27FC236}">
                <a16:creationId xmlns:a16="http://schemas.microsoft.com/office/drawing/2014/main" id="{F692BB8F-3A06-4D2D-8E18-142BF618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3" y="176021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D76DD7-ADC7-4DBE-A1F5-555566DF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58" y="1818536"/>
            <a:ext cx="347472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0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B4BAEB-02A7-4C16-8BA6-C8EFB66B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65" y="1688630"/>
            <a:ext cx="2706623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Vue </a:t>
            </a: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générale</a:t>
            </a:r>
            <a:endParaRPr sz="1050" b="1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" name="TextBox 18">
            <a:extLst xmlns:a="http://schemas.openxmlformats.org/drawingml/2006/main">
              <a:ext uri="{FF2B5EF4-FFF2-40B4-BE49-F238E27FC236}">
                <a16:creationId xmlns:a16="http://schemas.microsoft.com/office/drawing/2014/main" id="{C05A3FF1-700F-4512-885A-D6332AD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43" y="2039589"/>
            <a:ext cx="2194560" cy="226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KPI,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filtres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et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repères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synthèse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43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6A38846-3BAC-4AE1-9DAA-84F291FC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2475019"/>
            <a:ext cx="3474720" cy="720000"/>
          </a:xfrm>
          <a:prstGeom xmlns:a="http://schemas.openxmlformats.org/drawingml/2006/main" prst="roundRect">
            <a:avLst>
              <a:gd name="adj" fmla="val 11963"/>
            </a:avLst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163891E-588A-4E58-8BE4-0256BDD6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2475019"/>
            <a:ext cx="54864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Oval 21">
            <a:extLst xmlns:a="http://schemas.openxmlformats.org/drawingml/2006/main">
              <a:ext uri="{FF2B5EF4-FFF2-40B4-BE49-F238E27FC236}">
                <a16:creationId xmlns:a16="http://schemas.microsoft.com/office/drawing/2014/main" id="{70765F91-3D8E-4C29-983E-4239A3E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2" y="262132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22">
            <a:extLst xmlns:a="http://schemas.openxmlformats.org/drawingml/2006/main">
              <a:ext uri="{FF2B5EF4-FFF2-40B4-BE49-F238E27FC236}">
                <a16:creationId xmlns:a16="http://schemas.microsoft.com/office/drawing/2014/main" id="{2685F06A-7F63-49D9-B06B-45F12CF7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2" y="2679644"/>
            <a:ext cx="347472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7" name="TextBox 23">
            <a:extLst xmlns:a="http://schemas.openxmlformats.org/drawingml/2006/main">
              <a:ext uri="{FF2B5EF4-FFF2-40B4-BE49-F238E27FC236}">
                <a16:creationId xmlns:a16="http://schemas.microsoft.com/office/drawing/2014/main" id="{F96F7A9C-C3D2-4534-98D0-681A0069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64" y="2617810"/>
            <a:ext cx="2706624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Météo</a:t>
            </a: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 des </a:t>
            </a: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territoires</a:t>
            </a:r>
            <a:endParaRPr sz="1050" b="1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8" name="TextBox 24">
            <a:extLst xmlns:a="http://schemas.openxmlformats.org/drawingml/2006/main">
              <a:ext uri="{FF2B5EF4-FFF2-40B4-BE49-F238E27FC236}">
                <a16:creationId xmlns:a16="http://schemas.microsoft.com/office/drawing/2014/main" id="{92C915D3-0F87-486B-86C7-26657A02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7" y="2932220"/>
            <a:ext cx="3145536" cy="226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Comparer les variables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météo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entre départements.</a:t>
            </a:r>
          </a:p>
        </p:txBody>
      </p:sp>
      <p:sp>
        <p:nvSpPr>
          <p:cNvPr id="50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EAA3F75-0B43-4369-BE4E-CE5833BE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3336127"/>
            <a:ext cx="3474720" cy="720000"/>
          </a:xfrm>
          <a:prstGeom xmlns:a="http://schemas.openxmlformats.org/drawingml/2006/main" prst="roundRect">
            <a:avLst>
              <a:gd name="adj" fmla="val 9611"/>
            </a:avLst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82B066BE-D208-4317-A505-886BCF9C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3336127"/>
            <a:ext cx="54864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27">
            <a:extLst xmlns:a="http://schemas.openxmlformats.org/drawingml/2006/main">
              <a:ext uri="{FF2B5EF4-FFF2-40B4-BE49-F238E27FC236}">
                <a16:creationId xmlns:a16="http://schemas.microsoft.com/office/drawing/2014/main" id="{24FD418C-3206-41F6-BEDB-AAB5888A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3" y="348243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F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28">
            <a:extLst xmlns:a="http://schemas.openxmlformats.org/drawingml/2006/main">
              <a:ext uri="{FF2B5EF4-FFF2-40B4-BE49-F238E27FC236}">
                <a16:creationId xmlns:a16="http://schemas.microsoft.com/office/drawing/2014/main" id="{4027E121-5220-46A1-B9BA-C0E3A00E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3" y="3540752"/>
            <a:ext cx="347472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4" name="TextBox 29">
            <a:extLst xmlns:a="http://schemas.openxmlformats.org/drawingml/2006/main">
              <a:ext uri="{FF2B5EF4-FFF2-40B4-BE49-F238E27FC236}">
                <a16:creationId xmlns:a16="http://schemas.microsoft.com/office/drawing/2014/main" id="{E8174197-B8F1-4D0B-8E2E-E34DF05D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64" y="3478918"/>
            <a:ext cx="2706624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Évolution</a:t>
            </a: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temporelle</a:t>
            </a:r>
            <a:endParaRPr sz="1050" b="1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5" name="TextBox 30">
            <a:extLst xmlns:a="http://schemas.openxmlformats.org/drawingml/2006/main">
              <a:ext uri="{FF2B5EF4-FFF2-40B4-BE49-F238E27FC236}">
                <a16:creationId xmlns:a16="http://schemas.microsoft.com/office/drawing/2014/main" id="{6C6BFC95-7E13-45A4-BDF5-641DE8E5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7" y="3793328"/>
            <a:ext cx="3145536" cy="226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Lire les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séries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, les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périodes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et la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saisonnalité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57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BDF21C32-52AC-4E30-A83F-B223457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4197235"/>
            <a:ext cx="3474720" cy="720000"/>
          </a:xfrm>
          <a:prstGeom xmlns:a="http://schemas.openxmlformats.org/drawingml/2006/main" prst="roundRect">
            <a:avLst>
              <a:gd name="adj" fmla="val 9611"/>
            </a:avLst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E938F5A2-2F78-4FC6-8C37-13629AED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4197235"/>
            <a:ext cx="54864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33">
            <a:extLst xmlns:a="http://schemas.openxmlformats.org/drawingml/2006/main">
              <a:ext uri="{FF2B5EF4-FFF2-40B4-BE49-F238E27FC236}">
                <a16:creationId xmlns:a16="http://schemas.microsoft.com/office/drawing/2014/main" id="{6F3CF2CA-B703-4DE6-AE84-E89E3879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3" y="4343539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34">
            <a:extLst xmlns:a="http://schemas.openxmlformats.org/drawingml/2006/main">
              <a:ext uri="{FF2B5EF4-FFF2-40B4-BE49-F238E27FC236}">
                <a16:creationId xmlns:a16="http://schemas.microsoft.com/office/drawing/2014/main" id="{EE039B7C-48B0-416D-83FD-012A7D38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3" y="4401859"/>
            <a:ext cx="347472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1" name="TextBox 35">
            <a:extLst xmlns:a="http://schemas.openxmlformats.org/drawingml/2006/main">
              <a:ext uri="{FF2B5EF4-FFF2-40B4-BE49-F238E27FC236}">
                <a16:creationId xmlns:a16="http://schemas.microsoft.com/office/drawing/2014/main" id="{33713BBA-5819-4A8B-A9E2-F4B8B8DE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65" y="4303319"/>
            <a:ext cx="2706623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Danger </a:t>
            </a: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incendie</a:t>
            </a:r>
            <a:endParaRPr sz="1050" b="1">
              <a:solidFill>
                <a:srgbClr val="F4F1E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2" name="TextBox 36">
            <a:extLst xmlns:a="http://schemas.openxmlformats.org/drawingml/2006/main">
              <a:ext uri="{FF2B5EF4-FFF2-40B4-BE49-F238E27FC236}">
                <a16:creationId xmlns:a16="http://schemas.microsoft.com/office/drawing/2014/main" id="{345D4153-61F2-4C92-B57B-84A8D45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7" y="4654435"/>
            <a:ext cx="3145536" cy="226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Mettre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en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regard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niveau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officiel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et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météo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associée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64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E3A520D4-E48D-4367-A782-FF1A9D11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5058342"/>
            <a:ext cx="3474720" cy="720000"/>
          </a:xfrm>
          <a:prstGeom xmlns:a="http://schemas.openxmlformats.org/drawingml/2006/main" prst="roundRect">
            <a:avLst>
              <a:gd name="adj" fmla="val 9611"/>
            </a:avLst>
          </a:prstGeom>
          <a:solidFill xmlns:a="http://schemas.openxmlformats.org/drawingml/2006/main">
            <a:srgbClr val="0D2738"/>
          </a:solidFill>
          <a:ln xmlns:a="http://schemas.openxmlformats.org/drawingml/2006/main" w="12700">
            <a:solidFill>
              <a:srgbClr val="1C78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5FA00F5E-CF18-4041-88CA-B676D558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" y="5058342"/>
            <a:ext cx="54864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Oval 39">
            <a:extLst xmlns:a="http://schemas.openxmlformats.org/drawingml/2006/main">
              <a:ext uri="{FF2B5EF4-FFF2-40B4-BE49-F238E27FC236}">
                <a16:creationId xmlns:a16="http://schemas.microsoft.com/office/drawing/2014/main" id="{061B9CDB-E8B6-4CDE-9904-7CC3DD0B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3" y="520464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6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TextBox 40">
            <a:extLst xmlns:a="http://schemas.openxmlformats.org/drawingml/2006/main">
              <a:ext uri="{FF2B5EF4-FFF2-40B4-BE49-F238E27FC236}">
                <a16:creationId xmlns:a16="http://schemas.microsoft.com/office/drawing/2014/main" id="{F411B0EF-F9D6-494E-8965-FA25CB43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3" y="5262966"/>
            <a:ext cx="347472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5131E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8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2FFD8E-9A65-441E-ADD6-3BEF4BE6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64" y="5201132"/>
            <a:ext cx="2706624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Détail département</a:t>
            </a:r>
          </a:p>
        </p:txBody>
      </p:sp>
      <p:sp>
        <p:nvSpPr>
          <p:cNvPr id="69" name="TextBox 42">
            <a:extLst xmlns:a="http://schemas.openxmlformats.org/drawingml/2006/main">
              <a:ext uri="{FF2B5EF4-FFF2-40B4-BE49-F238E27FC236}">
                <a16:creationId xmlns:a16="http://schemas.microsoft.com/office/drawing/2014/main" id="{B3675504-6C52-4DEF-BDA4-85DA4A8A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7" y="5447660"/>
            <a:ext cx="3145536" cy="3598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Explorer un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territoire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avec un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niveau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détail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supplémentaire</a:t>
            </a:r>
            <a:r>
              <a:rPr sz="869" b="0">
                <a:solidFill>
                  <a:srgbClr val="C5D5DF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2420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b7d2d4f7741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82290" y="1947863"/>
            <a:ext cx="11427421" cy="2962275"/>
          </a:xfrm>
          <a:prstGeom xmlns:a="http://schemas.openxmlformats.org/drawingml/2006/main" prst="rect">
            <a:avLst/>
          </a:prstGeom>
        </p:spPr>
      </p:pic>
      <p:sp>
        <p:nvSpPr>
          <p:cNvPr id="9" name="text_187">
            <a:extLst xmlns:a="http://schemas.openxmlformats.org/drawingml/2006/main">
              <a:ext uri="{FF2B5EF4-FFF2-40B4-BE49-F238E27FC236}">
                <a16:creationId xmlns:a16="http://schemas.microsoft.com/office/drawing/2014/main" id="{71A7E74C-8DB4-3B83-B1AF-A584A5B5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65DFEA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65DFEA"/>
                </a:solidFill>
                <a:latin typeface="DejaVu Sans"/>
                <a:ea typeface="DejaVu Sans"/>
                <a:cs typeface="DejaVu Sans"/>
              </a:rPr>
              <a:t>05 · DÉMONTRER</a:t>
            </a:r>
          </a:p>
        </p:txBody>
      </p:sp>
      <p:sp>
        <p:nvSpPr>
          <p:cNvPr id="11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D0D931B-0CFD-8DAB-D775-D956F60B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4F1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4F1E9"/>
                </a:solidFill>
                <a:latin typeface="DejaVu Sans"/>
                <a:ea typeface="DejaVu Sans"/>
                <a:cs typeface="DejaVu Sans"/>
              </a:rPr>
              <a:t>Prédire depuis la dernière météo disponible</a:t>
            </a:r>
          </a:p>
        </p:txBody>
      </p:sp>
    </p:spTree>
    <p:extLst>
      <p:ext uri="{BB962C8B-B14F-4D97-AF65-F5344CB8AC3E}">
        <p14:creationId xmlns:p14="http://schemas.microsoft.com/office/powerpoint/2010/main" val="451130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2026-10-07T09:04:05.9670000Z</dcterms:created>
  <dcterms:modified xsi:type="dcterms:W3CDTF">2026-10-07T09:04:05.9670000Z</dcterms:modified>
</coreProperties>
</file>